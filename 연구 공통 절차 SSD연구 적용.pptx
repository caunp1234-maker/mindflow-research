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2" r:id="rId7"/>
    <p:sldId id="278" r:id="rId8"/>
    <p:sldId id="277" r:id="rId9"/>
    <p:sldId id="263" r:id="rId10"/>
    <p:sldId id="279" r:id="rId11"/>
    <p:sldId id="265" r:id="rId12"/>
    <p:sldId id="264" r:id="rId13"/>
    <p:sldId id="266" r:id="rId14"/>
    <p:sldId id="271" r:id="rId15"/>
    <p:sldId id="272" r:id="rId16"/>
    <p:sldId id="270" r:id="rId17"/>
    <p:sldId id="267" r:id="rId18"/>
    <p:sldId id="273" r:id="rId19"/>
    <p:sldId id="274" r:id="rId20"/>
    <p:sldId id="275" r:id="rId21"/>
    <p:sldId id="261" r:id="rId22"/>
    <p:sldId id="280" r:id="rId23"/>
    <p:sldId id="276" r:id="rId2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61" d="100"/>
          <a:sy n="61" d="100"/>
        </p:scale>
        <p:origin x="80" y="7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D2C0B6-3689-4A0A-BC68-A57B8EE9BE3A}" type="datetimeFigureOut">
              <a:rPr lang="ko-KR" altLang="en-US" smtClean="0"/>
              <a:t>2026-09-05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79FA17-8766-4B48-9283-7756E62851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4591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C1107B-45D6-1AC8-0CB4-625B332AA0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13F71FD-93BC-8D5A-BD27-12633214A7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A51FCD-0347-BFE6-D81B-B5AED8DD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DE57A-0D03-41B3-B214-7B9C81A78493}" type="datetimeFigureOut">
              <a:rPr lang="ko-KR" altLang="en-US" smtClean="0"/>
              <a:t>2026-09-05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B7F9906-E5EE-8A9F-5F20-147ABDD87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370223-A6D5-B095-1B5F-252735844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BF583-40AE-493D-A852-DB18F5534A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4873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0DDA04-C641-BFDC-EED0-470A214FC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F4A834-487B-417F-15EA-4450586298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9161A6-9FF3-AB56-3459-7A00FB40C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DE57A-0D03-41B3-B214-7B9C81A78493}" type="datetimeFigureOut">
              <a:rPr lang="ko-KR" altLang="en-US" smtClean="0"/>
              <a:t>2026-09-05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873042-6C03-5A34-CC12-F561B574D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1C6B44-F4A3-C882-748C-CF9ED2B27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BF583-40AE-493D-A852-DB18F5534A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612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C7D767-A4AF-FAFA-75D4-ED2E821BC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19A907-2473-41C0-DB27-C441B01DB2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2503CC-4736-D335-80AB-2324AE757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DE57A-0D03-41B3-B214-7B9C81A78493}" type="datetimeFigureOut">
              <a:rPr lang="ko-KR" altLang="en-US" smtClean="0"/>
              <a:t>2026-09-05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E1BA0B-7B06-F8F7-572A-0943AB6C3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B942525-7B72-06C3-9DAE-7E5844003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BF583-40AE-493D-A852-DB18F5534A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1000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980D9A-C751-D716-3AD2-56A8B73C8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83D342-41B0-9129-D6D6-F053922C6F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E3217BF-FF94-29EC-8281-06D8747FE6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6301C7E-9393-2695-CB41-88A22EC49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DE57A-0D03-41B3-B214-7B9C81A78493}" type="datetimeFigureOut">
              <a:rPr lang="ko-KR" altLang="en-US" smtClean="0"/>
              <a:t>2026-09-05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9579F55-2E6C-569D-78B5-9AEFDC821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6A8EC77-374C-3FA0-5737-B52FB1835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BF583-40AE-493D-A852-DB18F5534A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053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C40E14-BE21-3F6E-98D6-438F82C09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3252011-F2A8-8FDA-B710-BC75FA2A51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E806D9B-E7E7-327F-E4DC-2F5B7F14F6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E7BC9CC-100D-C684-EB9F-4047E94E4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B4CC4FA-1570-92EA-71ED-63AD067B16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6A59053-01CC-8B20-9FF2-D28E171D3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DE57A-0D03-41B3-B214-7B9C81A78493}" type="datetimeFigureOut">
              <a:rPr lang="ko-KR" altLang="en-US" smtClean="0"/>
              <a:t>2026-09-05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D20D609-B2D9-EAED-D70E-61DFD5D32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DD41CB1-FF00-A01D-6B4A-0622B6E5C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BF583-40AE-493D-A852-DB18F5534A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1143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0AF098-7AB1-7B64-B182-871A13ED7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FDDBCC0-1FCB-30A0-9A75-2A1F1AEAF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DE57A-0D03-41B3-B214-7B9C81A78493}" type="datetimeFigureOut">
              <a:rPr lang="ko-KR" altLang="en-US" smtClean="0"/>
              <a:t>2026-09-05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BFDF650-D99B-B65F-6E4A-EDB745612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6E4A147-6F16-5390-FF52-601FA89D1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BF583-40AE-493D-A852-DB18F5534A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6467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25353E7-47EA-BF39-84EE-EBC3321E8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DE57A-0D03-41B3-B214-7B9C81A78493}" type="datetimeFigureOut">
              <a:rPr lang="ko-KR" altLang="en-US" smtClean="0"/>
              <a:t>2026-09-05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9248239-0304-FD6E-0D8E-0395A509B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958A996-F8E9-B54A-AFD7-0F4EA1BC7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BF583-40AE-493D-A852-DB18F5534A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7842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89B180-3D5A-7D6D-42BD-A7FFDD964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E1C37B-5C4B-1F86-9240-FBC1B163B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A4BA30F-E7C7-72D5-B16C-31313B609A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2B65625-35A3-462A-BF19-2654CE12D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DE57A-0D03-41B3-B214-7B9C81A78493}" type="datetimeFigureOut">
              <a:rPr lang="ko-KR" altLang="en-US" smtClean="0"/>
              <a:t>2026-09-05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14E07F6-9714-4DE9-0F3C-CB05FE494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A54E26A-A45A-F3D8-A06A-193325ECC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BF583-40AE-493D-A852-DB18F5534A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8107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244115-F27E-5112-0E9D-31E79F8EC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259C725-2C22-F79B-F9BC-85F28E0D23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A271FA4-E50E-7FB8-4A99-6CA90BA68B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B6B4108-5203-82D5-81F2-415452E06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DE57A-0D03-41B3-B214-7B9C81A78493}" type="datetimeFigureOut">
              <a:rPr lang="ko-KR" altLang="en-US" smtClean="0"/>
              <a:t>2026-09-05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8C50C72-D69B-9293-BFB3-E0E2FA583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348FAF9-63C4-34E2-69D2-5248AA7A8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BF583-40AE-493D-A852-DB18F5534A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0598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EC395E-FB44-5114-9C95-A82A01D41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88BF10C-1AAC-05B5-970B-7C960A8878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0DEF50-E4B2-DC81-9875-565A594C6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DE57A-0D03-41B3-B214-7B9C81A78493}" type="datetimeFigureOut">
              <a:rPr lang="ko-KR" altLang="en-US" smtClean="0"/>
              <a:t>2026-09-05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5DDBB6-2805-9797-EAB8-17EAA5A4B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ECD3B0-5E7D-B1B5-6A32-03A6F5E56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BF583-40AE-493D-A852-DB18F5534A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0898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0732119-DCC0-C64B-6B14-E77A5ED7C2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530B3FB-B08C-29C7-5129-2099F5A382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CF5C90-4B01-6689-91D5-349F298DE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DE57A-0D03-41B3-B214-7B9C81A78493}" type="datetimeFigureOut">
              <a:rPr lang="ko-KR" altLang="en-US" smtClean="0"/>
              <a:t>2026-09-05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C8495D-516D-DF0C-3C30-956888DC4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60CFF0-E803-6658-0637-8B190191B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BF583-40AE-493D-A852-DB18F5534A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4543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9153258-5E28-F850-6E9C-589D3A00F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609AD28-4DB6-AB4E-F093-D0033F3C4C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171239-24FD-BEF8-9659-DD6F7BFECD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DDE57A-0D03-41B3-B214-7B9C81A78493}" type="datetimeFigureOut">
              <a:rPr lang="ko-KR" altLang="en-US" smtClean="0"/>
              <a:t>2026-09-05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ADA24F-EEA2-0239-A553-1E12ACEF76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738B77-093B-34A0-ED4F-6FEA4E2924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CBF583-40AE-493D-A852-DB18F5534A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1576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7CA954-A554-9D70-C54B-C72592477C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4ADA9F8-573F-5CB6-9062-31BBF89DAA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17744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7C6A43-E30E-50DF-88A3-457291F1F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연구 결과보고서 기존 구성 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EBDABC58-F3BC-27B8-A864-5DA1521BD1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7857" y="1477963"/>
            <a:ext cx="3698879" cy="501491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0EB5CDA-39BB-2CA2-541D-98B568F705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2093" y="1477963"/>
            <a:ext cx="4085507" cy="50149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8E1F1EC-73FB-70CF-7DE3-7582A4B252C0}"/>
              </a:ext>
            </a:extLst>
          </p:cNvPr>
          <p:cNvSpPr txBox="1"/>
          <p:nvPr/>
        </p:nvSpPr>
        <p:spPr>
          <a:xfrm>
            <a:off x="8597815" y="1690688"/>
            <a:ext cx="340598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연구제목 및 성명 </a:t>
            </a:r>
            <a:r>
              <a:rPr lang="en-US" altLang="ko-KR" dirty="0"/>
              <a:t>(</a:t>
            </a:r>
            <a:r>
              <a:rPr lang="ko-KR" altLang="en-US" dirty="0"/>
              <a:t>표지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자기보고식 설문 결과</a:t>
            </a:r>
            <a:r>
              <a:rPr lang="en-US" altLang="ko-KR" dirty="0"/>
              <a:t>: </a:t>
            </a:r>
            <a:r>
              <a:rPr lang="ko-KR" altLang="en-US" dirty="0"/>
              <a:t>점수 기준 안내 </a:t>
            </a:r>
            <a:r>
              <a:rPr lang="en-US" altLang="ko-KR" dirty="0"/>
              <a:t>(</a:t>
            </a:r>
            <a:r>
              <a:rPr lang="ko-KR" altLang="en-US" dirty="0"/>
              <a:t>연구에 사용되는 설문에 따라 항목만 달라짐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dirty="0"/>
              <a:t>3. MRI </a:t>
            </a:r>
            <a:r>
              <a:rPr lang="ko-KR" altLang="en-US" dirty="0"/>
              <a:t>촬영한 경우</a:t>
            </a:r>
            <a:r>
              <a:rPr lang="en-US" altLang="ko-KR" dirty="0"/>
              <a:t>, </a:t>
            </a:r>
            <a:r>
              <a:rPr lang="ko-KR" altLang="en-US" dirty="0"/>
              <a:t>판독 결과 기입</a:t>
            </a:r>
          </a:p>
        </p:txBody>
      </p:sp>
    </p:spTree>
    <p:extLst>
      <p:ext uri="{BB962C8B-B14F-4D97-AF65-F5344CB8AC3E}">
        <p14:creationId xmlns:p14="http://schemas.microsoft.com/office/powerpoint/2010/main" val="12994078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58199-3030-62DF-4D87-D9E30AA3E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AA55D2-908D-774C-8329-D358D3209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연구 코딩 기존 구성 </a:t>
            </a:r>
          </a:p>
        </p:txBody>
      </p: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73BB65E9-7238-584A-7F6B-E9C3BB7FB6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7736" y="1460686"/>
            <a:ext cx="10515600" cy="2503714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C20083F3-4897-1D86-5028-19DF5C72E9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736" y="4290870"/>
            <a:ext cx="10626064" cy="1864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855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534D1-D79B-35CC-43EF-4223C7FB0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FE1DCA-7CE4-2A2D-F9A1-E5C63F5B2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연구 코딩 기존 구성 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AB4220AB-CF28-F427-1D3A-C3E161EE57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298" y="1412286"/>
            <a:ext cx="8636938" cy="423981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C82ABF0-C0E3-771F-0529-EF9649E5CC13}"/>
              </a:ext>
            </a:extLst>
          </p:cNvPr>
          <p:cNvSpPr txBox="1"/>
          <p:nvPr/>
        </p:nvSpPr>
        <p:spPr>
          <a:xfrm>
            <a:off x="9303560" y="1607871"/>
            <a:ext cx="252636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인구통계학적 정보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병력 및 복용약물</a:t>
            </a:r>
            <a:endParaRPr lang="en-US" altLang="ko-KR" dirty="0"/>
          </a:p>
          <a:p>
            <a:r>
              <a:rPr lang="ko-KR" altLang="en-US" dirty="0"/>
              <a:t> </a:t>
            </a:r>
            <a:endParaRPr lang="en-US" altLang="ko-KR" dirty="0"/>
          </a:p>
          <a:p>
            <a:r>
              <a:rPr lang="en-US" altLang="ko-KR" dirty="0"/>
              <a:t>3. </a:t>
            </a:r>
            <a:r>
              <a:rPr lang="ko-KR" altLang="en-US" dirty="0"/>
              <a:t>자기보고식 검사 응답내용 코딩</a:t>
            </a:r>
            <a:r>
              <a:rPr lang="en-US" altLang="ko-KR" dirty="0"/>
              <a:t>(</a:t>
            </a:r>
            <a:r>
              <a:rPr lang="ko-KR" altLang="en-US" dirty="0"/>
              <a:t>각 설문별 합계 포함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124545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CCFCA-68CF-08D1-39A3-CB28A5DE3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04176E-5CA5-9671-A7CC-C8B5DF4B7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chemeClr val="accent5"/>
                </a:solidFill>
              </a:rPr>
              <a:t>연구 공통 절차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523880-FB74-8A7B-5F55-A69CD8DA27A8}"/>
              </a:ext>
            </a:extLst>
          </p:cNvPr>
          <p:cNvSpPr txBox="1"/>
          <p:nvPr/>
        </p:nvSpPr>
        <p:spPr>
          <a:xfrm>
            <a:off x="926673" y="1896306"/>
            <a:ext cx="1051559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0. </a:t>
            </a:r>
            <a:r>
              <a:rPr lang="ko-KR" altLang="en-US" dirty="0"/>
              <a:t>방문 장소</a:t>
            </a:r>
            <a:r>
              <a:rPr lang="en-US" altLang="ko-KR" dirty="0"/>
              <a:t>, </a:t>
            </a:r>
            <a:r>
              <a:rPr lang="ko-KR" altLang="en-US" dirty="0"/>
              <a:t>준비물</a:t>
            </a:r>
            <a:r>
              <a:rPr lang="en-US" altLang="ko-KR" dirty="0"/>
              <a:t>, </a:t>
            </a:r>
            <a:r>
              <a:rPr lang="ko-KR" altLang="en-US" dirty="0"/>
              <a:t>유의사항</a:t>
            </a:r>
            <a:r>
              <a:rPr lang="en-US" altLang="ko-KR" dirty="0"/>
              <a:t>, </a:t>
            </a:r>
            <a:r>
              <a:rPr lang="ko-KR" altLang="en-US" dirty="0"/>
              <a:t>연구원 연락처 안내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연구 설명 및 동의서 작성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 err="1"/>
              <a:t>스크리닝</a:t>
            </a:r>
            <a:r>
              <a:rPr lang="ko-KR" altLang="en-US" dirty="0"/>
              <a:t> 및 연구 선정</a:t>
            </a:r>
            <a:r>
              <a:rPr lang="en-US" altLang="ko-KR" dirty="0"/>
              <a:t>/</a:t>
            </a:r>
            <a:r>
              <a:rPr lang="ko-KR" altLang="en-US" dirty="0"/>
              <a:t>제외 기준 확인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병력 및 복용약물 조사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인구학적 조사</a:t>
            </a:r>
            <a:r>
              <a:rPr lang="en-US" altLang="ko-KR" dirty="0"/>
              <a:t>/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필요시</a:t>
            </a:r>
            <a:r>
              <a:rPr lang="en-US" altLang="ko-KR" dirty="0"/>
              <a:t>) </a:t>
            </a:r>
            <a:r>
              <a:rPr lang="ko-KR" altLang="en-US" dirty="0"/>
              <a:t>신분증</a:t>
            </a:r>
            <a:r>
              <a:rPr lang="en-US" altLang="ko-KR" dirty="0"/>
              <a:t>&amp;</a:t>
            </a:r>
            <a:r>
              <a:rPr lang="ko-KR" altLang="en-US" dirty="0"/>
              <a:t>통장사본</a:t>
            </a:r>
            <a:r>
              <a:rPr lang="en-US" altLang="ko-KR" dirty="0"/>
              <a:t>&amp;</a:t>
            </a:r>
            <a:r>
              <a:rPr lang="ko-KR" altLang="en-US" dirty="0"/>
              <a:t>가족관계증명서</a:t>
            </a:r>
            <a:r>
              <a:rPr lang="en-US" altLang="ko-KR" dirty="0"/>
              <a:t>(</a:t>
            </a:r>
            <a:r>
              <a:rPr lang="ko-KR" altLang="en-US" dirty="0"/>
              <a:t>미성년자</a:t>
            </a:r>
            <a:r>
              <a:rPr lang="en-US" altLang="ko-KR" dirty="0"/>
              <a:t>) </a:t>
            </a:r>
            <a:r>
              <a:rPr lang="ko-KR" altLang="en-US" dirty="0"/>
              <a:t>제출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임상시험 진행 </a:t>
            </a:r>
            <a:r>
              <a:rPr lang="en-US" altLang="ko-KR" dirty="0"/>
              <a:t>(</a:t>
            </a:r>
            <a:r>
              <a:rPr lang="ko-KR" altLang="en-US" dirty="0"/>
              <a:t>임상척도</a:t>
            </a:r>
            <a:r>
              <a:rPr lang="en-US" altLang="ko-KR" dirty="0"/>
              <a:t>, </a:t>
            </a:r>
            <a:r>
              <a:rPr lang="ko-KR" altLang="en-US" dirty="0"/>
              <a:t>면담</a:t>
            </a:r>
            <a:r>
              <a:rPr lang="en-US" altLang="ko-KR" dirty="0"/>
              <a:t>, MRI, </a:t>
            </a:r>
            <a:r>
              <a:rPr lang="en-US" altLang="ko-KR" dirty="0" err="1"/>
              <a:t>fNIRS</a:t>
            </a:r>
            <a:r>
              <a:rPr lang="ko-KR" altLang="en-US" dirty="0"/>
              <a:t> 등 각 연구별 절차에 따라 진행</a:t>
            </a:r>
            <a:r>
              <a:rPr lang="en-US" altLang="ko-KR" dirty="0"/>
              <a:t>)</a:t>
            </a:r>
          </a:p>
          <a:p>
            <a:pPr marL="342900" indent="-342900">
              <a:buAutoNum type="arabicPeriod"/>
            </a:pPr>
            <a:r>
              <a:rPr lang="ko-KR" altLang="en-US" dirty="0"/>
              <a:t>이후 방문 일정 안내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코딩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결과보고서 제작 및 전달</a:t>
            </a:r>
            <a:endParaRPr lang="en-US" altLang="ko-KR" dirty="0"/>
          </a:p>
          <a:p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6099695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D471D-E749-9FA2-53F0-A5C244268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0F2B7D-E6F1-E595-0B66-5A1E90598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chemeClr val="accent5"/>
                </a:solidFill>
              </a:rPr>
              <a:t>연구 공통 절차 </a:t>
            </a:r>
            <a:r>
              <a:rPr lang="en-US" altLang="ko-KR" b="1" dirty="0">
                <a:solidFill>
                  <a:schemeClr val="accent5"/>
                </a:solidFill>
              </a:rPr>
              <a:t>(SSD_CBT </a:t>
            </a:r>
            <a:r>
              <a:rPr lang="ko-KR" altLang="en-US" b="1" dirty="0">
                <a:solidFill>
                  <a:schemeClr val="accent5"/>
                </a:solidFill>
              </a:rPr>
              <a:t>연구 적용</a:t>
            </a:r>
            <a:r>
              <a:rPr lang="en-US" altLang="ko-KR" b="1" dirty="0">
                <a:solidFill>
                  <a:schemeClr val="accent5"/>
                </a:solidFill>
              </a:rPr>
              <a:t>)</a:t>
            </a:r>
            <a:endParaRPr lang="ko-KR" altLang="en-US" b="1" dirty="0">
              <a:solidFill>
                <a:schemeClr val="accent5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059126-94F1-78EF-210D-FDFB0D584B94}"/>
              </a:ext>
            </a:extLst>
          </p:cNvPr>
          <p:cNvSpPr txBox="1"/>
          <p:nvPr/>
        </p:nvSpPr>
        <p:spPr>
          <a:xfrm>
            <a:off x="926673" y="1567670"/>
            <a:ext cx="105155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0. </a:t>
            </a:r>
            <a:r>
              <a:rPr lang="ko-KR" altLang="en-US" dirty="0" err="1"/>
              <a:t>인롤</a:t>
            </a:r>
            <a:r>
              <a:rPr lang="ko-KR" altLang="en-US" dirty="0"/>
              <a:t> 대상자 확인 후 방문 장소</a:t>
            </a:r>
            <a:r>
              <a:rPr lang="en-US" altLang="ko-KR" dirty="0"/>
              <a:t>, </a:t>
            </a:r>
            <a:r>
              <a:rPr lang="ko-KR" altLang="en-US" dirty="0"/>
              <a:t>준비물</a:t>
            </a:r>
            <a:r>
              <a:rPr lang="en-US" altLang="ko-KR" dirty="0"/>
              <a:t>, </a:t>
            </a:r>
            <a:r>
              <a:rPr lang="ko-KR" altLang="en-US" dirty="0"/>
              <a:t>유의사항</a:t>
            </a:r>
            <a:r>
              <a:rPr lang="en-US" altLang="ko-KR" dirty="0"/>
              <a:t>, </a:t>
            </a:r>
            <a:r>
              <a:rPr lang="ko-KR" altLang="en-US" dirty="0"/>
              <a:t>연구원 연락처 안내</a:t>
            </a:r>
            <a:endParaRPr lang="en-US" altLang="ko-KR" dirty="0"/>
          </a:p>
          <a:p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7007070-B55B-0EBD-3646-D4DBE694A3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962" y="2567991"/>
            <a:ext cx="2184231" cy="397842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A282FB8-E6EB-4B83-C4AE-3CCF668C08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9301" y="2578005"/>
            <a:ext cx="3090286" cy="397841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9086DE7-E284-35C6-061E-0F82F8569569}"/>
              </a:ext>
            </a:extLst>
          </p:cNvPr>
          <p:cNvSpPr txBox="1"/>
          <p:nvPr/>
        </p:nvSpPr>
        <p:spPr>
          <a:xfrm>
            <a:off x="755613" y="2290992"/>
            <a:ext cx="2252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1. </a:t>
            </a:r>
            <a:r>
              <a:rPr lang="ko-KR" altLang="en-US" sz="1200" b="1" dirty="0"/>
              <a:t>연구 참여자 </a:t>
            </a:r>
            <a:r>
              <a:rPr lang="ko-KR" altLang="en-US" sz="1200" b="1" dirty="0" err="1"/>
              <a:t>인롤</a:t>
            </a:r>
            <a:endParaRPr lang="ko-KR" altLang="en-US" sz="12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F3B0C1-83AB-B252-9040-9AC54687507F}"/>
              </a:ext>
            </a:extLst>
          </p:cNvPr>
          <p:cNvSpPr txBox="1"/>
          <p:nvPr/>
        </p:nvSpPr>
        <p:spPr>
          <a:xfrm>
            <a:off x="9229917" y="2290992"/>
            <a:ext cx="24857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3. </a:t>
            </a:r>
            <a:r>
              <a:rPr lang="ko-KR" altLang="en-US" sz="1200" b="1" dirty="0"/>
              <a:t>연구 방문 전 안내</a:t>
            </a:r>
            <a:r>
              <a:rPr lang="en-US" altLang="ko-KR" sz="1200" b="1" dirty="0"/>
              <a:t>(</a:t>
            </a:r>
            <a:r>
              <a:rPr lang="ko-KR" altLang="en-US" sz="1200" b="1" dirty="0"/>
              <a:t>리마인드</a:t>
            </a:r>
            <a:r>
              <a:rPr lang="en-US" altLang="ko-KR" sz="1200" b="1" dirty="0"/>
              <a:t>)</a:t>
            </a:r>
            <a:endParaRPr lang="ko-KR" altLang="en-US" sz="12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319E007-9F9D-C658-1C66-56D81F09FC9E}"/>
              </a:ext>
            </a:extLst>
          </p:cNvPr>
          <p:cNvSpPr txBox="1"/>
          <p:nvPr/>
        </p:nvSpPr>
        <p:spPr>
          <a:xfrm>
            <a:off x="4567531" y="2290991"/>
            <a:ext cx="24857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2. </a:t>
            </a:r>
            <a:r>
              <a:rPr lang="ko-KR" altLang="en-US" sz="1200" b="1" dirty="0"/>
              <a:t>연구 방문 전 안내</a:t>
            </a:r>
            <a:r>
              <a:rPr lang="en-US" altLang="ko-KR" sz="1200" b="1" dirty="0"/>
              <a:t>(</a:t>
            </a:r>
            <a:r>
              <a:rPr lang="ko-KR" altLang="en-US" sz="1200" b="1" dirty="0"/>
              <a:t>유선 연락</a:t>
            </a:r>
            <a:r>
              <a:rPr lang="en-US" altLang="ko-KR" sz="1200" b="1" dirty="0"/>
              <a:t>)</a:t>
            </a:r>
            <a:endParaRPr lang="ko-KR" altLang="en-US" sz="12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CFEE618-6AFB-4E9B-3501-FAD1A00DF456}"/>
              </a:ext>
            </a:extLst>
          </p:cNvPr>
          <p:cNvSpPr txBox="1"/>
          <p:nvPr/>
        </p:nvSpPr>
        <p:spPr>
          <a:xfrm>
            <a:off x="4117868" y="2767999"/>
            <a:ext cx="349190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1) </a:t>
            </a:r>
            <a:r>
              <a:rPr lang="ko-KR" altLang="en-US" sz="1200" dirty="0"/>
              <a:t>연구 안내 </a:t>
            </a:r>
            <a:r>
              <a:rPr lang="en-US" altLang="ko-KR" sz="1200" dirty="0"/>
              <a:t>(</a:t>
            </a:r>
            <a:r>
              <a:rPr lang="ko-KR" altLang="en-US" sz="1200" dirty="0"/>
              <a:t>무작위 배정</a:t>
            </a:r>
            <a:r>
              <a:rPr lang="en-US" altLang="ko-KR" sz="1200" dirty="0"/>
              <a:t>)</a:t>
            </a:r>
          </a:p>
          <a:p>
            <a:r>
              <a:rPr lang="en-US" altLang="ko-KR" sz="1200" dirty="0"/>
              <a:t>2) </a:t>
            </a:r>
            <a:r>
              <a:rPr lang="ko-KR" altLang="en-US" sz="1200" dirty="0"/>
              <a:t>참여 여부 재확인</a:t>
            </a:r>
            <a:endParaRPr lang="en-US" altLang="ko-KR" sz="1200" dirty="0"/>
          </a:p>
          <a:p>
            <a:r>
              <a:rPr lang="en-US" altLang="ko-KR" sz="1200" dirty="0"/>
              <a:t>3) </a:t>
            </a:r>
            <a:r>
              <a:rPr lang="ko-KR" altLang="en-US" sz="1200" dirty="0"/>
              <a:t>전체적인 연구 진행 일정 간략 안내 </a:t>
            </a:r>
            <a:endParaRPr lang="en-US" altLang="ko-KR" sz="1200" dirty="0"/>
          </a:p>
          <a:p>
            <a:r>
              <a:rPr lang="en-US" altLang="ko-KR" sz="1200" dirty="0"/>
              <a:t>(11</a:t>
            </a:r>
            <a:r>
              <a:rPr lang="ko-KR" altLang="en-US" sz="1200" dirty="0"/>
              <a:t>주간 진행 및 사전평가</a:t>
            </a:r>
            <a:r>
              <a:rPr lang="en-US" altLang="ko-KR" sz="1200" dirty="0"/>
              <a:t>-</a:t>
            </a:r>
            <a:r>
              <a:rPr lang="ko-KR" altLang="en-US" sz="1200" dirty="0"/>
              <a:t>중간평가</a:t>
            </a:r>
            <a:r>
              <a:rPr lang="en-US" altLang="ko-KR" sz="1200" dirty="0"/>
              <a:t>-</a:t>
            </a:r>
            <a:r>
              <a:rPr lang="ko-KR" altLang="en-US" sz="1200" dirty="0"/>
              <a:t>종료평가</a:t>
            </a:r>
            <a:r>
              <a:rPr lang="en-US" altLang="ko-KR" sz="1200" dirty="0"/>
              <a:t>-</a:t>
            </a:r>
            <a:r>
              <a:rPr lang="ko-KR" altLang="en-US" sz="1200" dirty="0"/>
              <a:t>추적검사 일정 안내</a:t>
            </a:r>
            <a:r>
              <a:rPr lang="en-US" altLang="ko-KR" sz="1200" dirty="0"/>
              <a:t>)</a:t>
            </a:r>
          </a:p>
          <a:p>
            <a:r>
              <a:rPr lang="en-US" altLang="ko-KR" sz="1200" dirty="0"/>
              <a:t>4) V1- </a:t>
            </a:r>
            <a:r>
              <a:rPr lang="ko-KR" altLang="en-US" sz="1200" dirty="0"/>
              <a:t>동의서 작성 및 사전검사 일정 조율</a:t>
            </a:r>
            <a:r>
              <a:rPr lang="en-US" altLang="ko-KR" sz="1200" dirty="0"/>
              <a:t>, </a:t>
            </a:r>
            <a:r>
              <a:rPr lang="ko-KR" altLang="en-US" sz="1200" dirty="0"/>
              <a:t>예상 소요 시간 안내</a:t>
            </a:r>
          </a:p>
        </p:txBody>
      </p:sp>
    </p:spTree>
    <p:extLst>
      <p:ext uri="{BB962C8B-B14F-4D97-AF65-F5344CB8AC3E}">
        <p14:creationId xmlns:p14="http://schemas.microsoft.com/office/powerpoint/2010/main" val="15550038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9C79B-47E5-9630-D64A-02E89B57C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4D7D83-A4CF-299E-B9B0-DC5BCFE7D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chemeClr val="accent5"/>
                </a:solidFill>
              </a:rPr>
              <a:t>연구 공통 절차 </a:t>
            </a:r>
            <a:r>
              <a:rPr lang="en-US" altLang="ko-KR" b="1" dirty="0">
                <a:solidFill>
                  <a:schemeClr val="accent5"/>
                </a:solidFill>
              </a:rPr>
              <a:t>(SSD_CBT </a:t>
            </a:r>
            <a:r>
              <a:rPr lang="ko-KR" altLang="en-US" b="1" dirty="0">
                <a:solidFill>
                  <a:schemeClr val="accent5"/>
                </a:solidFill>
              </a:rPr>
              <a:t>연구 적용</a:t>
            </a:r>
            <a:r>
              <a:rPr lang="en-US" altLang="ko-KR" b="1" dirty="0">
                <a:solidFill>
                  <a:schemeClr val="accent5"/>
                </a:solidFill>
              </a:rPr>
              <a:t>)</a:t>
            </a:r>
            <a:endParaRPr lang="ko-KR" altLang="en-US" b="1" dirty="0">
              <a:solidFill>
                <a:schemeClr val="accent5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E4FF8D-1E0E-65B1-4A48-3419B61743BA}"/>
              </a:ext>
            </a:extLst>
          </p:cNvPr>
          <p:cNvSpPr txBox="1"/>
          <p:nvPr/>
        </p:nvSpPr>
        <p:spPr>
          <a:xfrm>
            <a:off x="926673" y="1567670"/>
            <a:ext cx="105155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0. </a:t>
            </a:r>
            <a:r>
              <a:rPr lang="ko-KR" altLang="en-US" dirty="0" err="1"/>
              <a:t>인롤</a:t>
            </a:r>
            <a:r>
              <a:rPr lang="ko-KR" altLang="en-US" dirty="0"/>
              <a:t> 대상자 확인 후 방문 장소</a:t>
            </a:r>
            <a:r>
              <a:rPr lang="en-US" altLang="ko-KR" dirty="0"/>
              <a:t>, </a:t>
            </a:r>
            <a:r>
              <a:rPr lang="ko-KR" altLang="en-US" dirty="0"/>
              <a:t>준비물</a:t>
            </a:r>
            <a:r>
              <a:rPr lang="en-US" altLang="ko-KR" dirty="0"/>
              <a:t>, </a:t>
            </a:r>
            <a:r>
              <a:rPr lang="ko-KR" altLang="en-US" dirty="0"/>
              <a:t>유의사항</a:t>
            </a:r>
            <a:r>
              <a:rPr lang="en-US" altLang="ko-KR" dirty="0"/>
              <a:t>, </a:t>
            </a:r>
            <a:r>
              <a:rPr lang="ko-KR" altLang="en-US" dirty="0"/>
              <a:t>연구원 연락처 안내</a:t>
            </a:r>
            <a:endParaRPr lang="en-US" altLang="ko-KR" dirty="0"/>
          </a:p>
          <a:p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F7A73A8-38B0-1CF7-5662-D87C560818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962" y="2567991"/>
            <a:ext cx="2184231" cy="397842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8E72790-1761-173A-8B5A-7376D74015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9301" y="2578005"/>
            <a:ext cx="3090286" cy="397841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D5F329A-727D-FE56-60A2-E38838E2E0AE}"/>
              </a:ext>
            </a:extLst>
          </p:cNvPr>
          <p:cNvSpPr txBox="1"/>
          <p:nvPr/>
        </p:nvSpPr>
        <p:spPr>
          <a:xfrm>
            <a:off x="755613" y="2290992"/>
            <a:ext cx="2252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1. </a:t>
            </a:r>
            <a:r>
              <a:rPr lang="ko-KR" altLang="en-US" sz="1200" b="1" dirty="0"/>
              <a:t>연구 참여자 </a:t>
            </a:r>
            <a:r>
              <a:rPr lang="ko-KR" altLang="en-US" sz="1200" b="1" dirty="0" err="1"/>
              <a:t>인롤</a:t>
            </a:r>
            <a:endParaRPr lang="ko-KR" altLang="en-US" sz="12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E142B0-888F-1BDD-3CF4-1E13FB83C6BB}"/>
              </a:ext>
            </a:extLst>
          </p:cNvPr>
          <p:cNvSpPr txBox="1"/>
          <p:nvPr/>
        </p:nvSpPr>
        <p:spPr>
          <a:xfrm>
            <a:off x="9229917" y="2290992"/>
            <a:ext cx="24857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3. </a:t>
            </a:r>
            <a:r>
              <a:rPr lang="ko-KR" altLang="en-US" sz="1200" b="1" dirty="0"/>
              <a:t>연구 방문 전 안내</a:t>
            </a:r>
            <a:r>
              <a:rPr lang="en-US" altLang="ko-KR" sz="1200" b="1" dirty="0"/>
              <a:t>(</a:t>
            </a:r>
            <a:r>
              <a:rPr lang="ko-KR" altLang="en-US" sz="1200" b="1" dirty="0"/>
              <a:t>리마인드</a:t>
            </a:r>
            <a:r>
              <a:rPr lang="en-US" altLang="ko-KR" sz="1200" b="1" dirty="0"/>
              <a:t>)</a:t>
            </a:r>
            <a:endParaRPr lang="ko-KR" altLang="en-US" sz="12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322166F-D49F-E2A9-B808-589B571B94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466" y="2567991"/>
            <a:ext cx="2770625" cy="331780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17C4735-AFA8-7DA5-7C6B-681B6AEFBAC6}"/>
              </a:ext>
            </a:extLst>
          </p:cNvPr>
          <p:cNvSpPr txBox="1"/>
          <p:nvPr/>
        </p:nvSpPr>
        <p:spPr>
          <a:xfrm>
            <a:off x="3537259" y="2060159"/>
            <a:ext cx="5419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피험자 입력란 생성 </a:t>
            </a:r>
            <a:r>
              <a:rPr lang="en-US" altLang="ko-KR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+ </a:t>
            </a:r>
            <a:r>
              <a:rPr lang="ko-KR" alt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진행일시</a:t>
            </a:r>
            <a:r>
              <a:rPr lang="en-US" altLang="ko-KR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, </a:t>
            </a:r>
            <a:r>
              <a:rPr lang="ko-KR" alt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무작위 배정 결과 추가입력 </a:t>
            </a:r>
            <a:r>
              <a:rPr lang="en-US" altLang="ko-KR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-&gt; </a:t>
            </a:r>
            <a:r>
              <a:rPr lang="ko-KR" alt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문자 멘트 생성 </a:t>
            </a:r>
            <a:r>
              <a:rPr lang="en-US" altLang="ko-KR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+ </a:t>
            </a:r>
            <a:r>
              <a:rPr lang="ko-KR" alt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보내기 기능 </a:t>
            </a:r>
            <a:r>
              <a:rPr lang="en-US" altLang="ko-KR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/ </a:t>
            </a:r>
            <a:r>
              <a:rPr lang="ko-KR" alt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피험자별 일정표 생성 </a:t>
            </a:r>
            <a:r>
              <a:rPr lang="en-US" altLang="ko-KR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</a:t>
            </a:r>
            <a:r>
              <a:rPr lang="ko-KR" alt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디자인 필요</a:t>
            </a:r>
            <a:r>
              <a:rPr lang="en-US" altLang="ko-KR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)</a:t>
            </a:r>
            <a:endParaRPr lang="ko-KR" altLang="en-US" sz="12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6307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5608D-AA32-3D64-C191-AB39ACD13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FE4193-5D41-9175-AD7B-48B00F301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chemeClr val="accent5"/>
                </a:solidFill>
              </a:rPr>
              <a:t>연구 공통 절차 </a:t>
            </a:r>
            <a:r>
              <a:rPr lang="en-US" altLang="ko-KR" b="1" dirty="0">
                <a:solidFill>
                  <a:schemeClr val="accent5"/>
                </a:solidFill>
              </a:rPr>
              <a:t>(SSD_CBT </a:t>
            </a:r>
            <a:r>
              <a:rPr lang="ko-KR" altLang="en-US" b="1" dirty="0">
                <a:solidFill>
                  <a:schemeClr val="accent5"/>
                </a:solidFill>
              </a:rPr>
              <a:t>연구 적용</a:t>
            </a:r>
            <a:r>
              <a:rPr lang="en-US" altLang="ko-KR" b="1" dirty="0">
                <a:solidFill>
                  <a:schemeClr val="accent5"/>
                </a:solidFill>
              </a:rPr>
              <a:t>)</a:t>
            </a:r>
            <a:endParaRPr lang="ko-KR" altLang="en-US" b="1" dirty="0">
              <a:solidFill>
                <a:schemeClr val="accent5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216128-8C9C-AB07-D8F2-D44977790AF6}"/>
              </a:ext>
            </a:extLst>
          </p:cNvPr>
          <p:cNvSpPr txBox="1"/>
          <p:nvPr/>
        </p:nvSpPr>
        <p:spPr>
          <a:xfrm>
            <a:off x="926673" y="1567670"/>
            <a:ext cx="105155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0. </a:t>
            </a:r>
            <a:r>
              <a:rPr lang="ko-KR" altLang="en-US" dirty="0" err="1"/>
              <a:t>인롤</a:t>
            </a:r>
            <a:r>
              <a:rPr lang="ko-KR" altLang="en-US" dirty="0"/>
              <a:t> 대상자 확인 후 방문 장소</a:t>
            </a:r>
            <a:r>
              <a:rPr lang="en-US" altLang="ko-KR" dirty="0"/>
              <a:t>, </a:t>
            </a:r>
            <a:r>
              <a:rPr lang="ko-KR" altLang="en-US" dirty="0"/>
              <a:t>준비물</a:t>
            </a:r>
            <a:r>
              <a:rPr lang="en-US" altLang="ko-KR" dirty="0"/>
              <a:t>, </a:t>
            </a:r>
            <a:r>
              <a:rPr lang="ko-KR" altLang="en-US" dirty="0"/>
              <a:t>유의사항</a:t>
            </a:r>
            <a:r>
              <a:rPr lang="en-US" altLang="ko-KR" dirty="0"/>
              <a:t>, </a:t>
            </a:r>
            <a:r>
              <a:rPr lang="ko-KR" altLang="en-US" dirty="0"/>
              <a:t>연구원 연락처 안내</a:t>
            </a:r>
            <a:endParaRPr lang="en-US" altLang="ko-KR" dirty="0"/>
          </a:p>
          <a:p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629D243-14E4-3FB4-717B-9BA19C11EE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9995" y="2373837"/>
            <a:ext cx="2560425" cy="32962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2F5C8FE-5A85-8885-83CE-4896664EF0C4}"/>
              </a:ext>
            </a:extLst>
          </p:cNvPr>
          <p:cNvSpPr txBox="1"/>
          <p:nvPr/>
        </p:nvSpPr>
        <p:spPr>
          <a:xfrm>
            <a:off x="523881" y="1975706"/>
            <a:ext cx="2252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1. </a:t>
            </a:r>
            <a:r>
              <a:rPr lang="ko-KR" altLang="en-US" sz="1200" b="1" dirty="0"/>
              <a:t>연구 참여자 </a:t>
            </a:r>
            <a:r>
              <a:rPr lang="ko-KR" altLang="en-US" sz="1200" b="1" dirty="0" err="1"/>
              <a:t>인롤</a:t>
            </a:r>
            <a:endParaRPr lang="ko-KR" altLang="en-US" sz="12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364AE9-0840-FB2D-2F63-44D9C25A8567}"/>
              </a:ext>
            </a:extLst>
          </p:cNvPr>
          <p:cNvSpPr txBox="1"/>
          <p:nvPr/>
        </p:nvSpPr>
        <p:spPr>
          <a:xfrm>
            <a:off x="530781" y="2654584"/>
            <a:ext cx="93081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3. </a:t>
            </a:r>
            <a:r>
              <a:rPr lang="ko-KR" alt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연구 방문 전 안내</a:t>
            </a:r>
            <a:r>
              <a:rPr lang="en-US" altLang="ko-KR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</a:t>
            </a:r>
            <a:r>
              <a:rPr lang="ko-KR" alt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리마인드</a:t>
            </a:r>
            <a:r>
              <a:rPr lang="en-US" altLang="ko-KR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)  </a:t>
            </a:r>
          </a:p>
          <a:p>
            <a:r>
              <a:rPr lang="en-US" altLang="ko-KR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-&gt; Mind flow </a:t>
            </a:r>
            <a:r>
              <a:rPr lang="ko-KR" alt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추가 활용</a:t>
            </a:r>
            <a:r>
              <a:rPr lang="en-US" altLang="ko-KR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 </a:t>
            </a:r>
            <a:r>
              <a:rPr lang="ko-KR" alt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안내 문자 자동 서식으로 피험자 연락처 </a:t>
            </a:r>
            <a:r>
              <a:rPr lang="en-US" altLang="ko-KR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+ </a:t>
            </a:r>
            <a:r>
              <a:rPr lang="ko-KR" alt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방문 일자 입력 시 발송 기능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6B9F30-609C-244C-EE39-F65AE29DE32C}"/>
              </a:ext>
            </a:extLst>
          </p:cNvPr>
          <p:cNvSpPr txBox="1"/>
          <p:nvPr/>
        </p:nvSpPr>
        <p:spPr>
          <a:xfrm>
            <a:off x="517996" y="2315145"/>
            <a:ext cx="24857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2. </a:t>
            </a:r>
            <a:r>
              <a:rPr lang="ko-KR" altLang="en-US" sz="1200" b="1" dirty="0"/>
              <a:t>연구 방문 전 안내</a:t>
            </a:r>
            <a:r>
              <a:rPr lang="en-US" altLang="ko-KR" sz="1200" b="1" dirty="0"/>
              <a:t>(</a:t>
            </a:r>
            <a:r>
              <a:rPr lang="ko-KR" altLang="en-US" sz="1200" b="1" dirty="0"/>
              <a:t>유선 연락</a:t>
            </a:r>
            <a:r>
              <a:rPr lang="en-US" altLang="ko-KR" sz="1200" b="1" dirty="0"/>
              <a:t>)</a:t>
            </a:r>
            <a:endParaRPr lang="ko-KR" altLang="en-US" sz="12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AB4650-AB8C-8B16-5B85-F7EC7E532AC8}"/>
              </a:ext>
            </a:extLst>
          </p:cNvPr>
          <p:cNvSpPr txBox="1"/>
          <p:nvPr/>
        </p:nvSpPr>
        <p:spPr>
          <a:xfrm>
            <a:off x="530781" y="3178689"/>
            <a:ext cx="6187171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4. </a:t>
            </a:r>
            <a:r>
              <a:rPr lang="ko-KR" alt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연구평가</a:t>
            </a:r>
            <a:r>
              <a:rPr lang="en-US" altLang="ko-KR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</a:t>
            </a:r>
            <a:r>
              <a:rPr lang="ko-KR" alt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임상척도</a:t>
            </a:r>
            <a:r>
              <a:rPr lang="en-US" altLang="ko-KR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) </a:t>
            </a:r>
            <a:r>
              <a:rPr lang="ko-KR" alt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안내</a:t>
            </a:r>
            <a:endParaRPr lang="en-US" altLang="ko-KR" sz="12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altLang="ko-KR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-&gt; Mind flow </a:t>
            </a:r>
            <a:r>
              <a:rPr lang="ko-KR" alt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추가 활용</a:t>
            </a:r>
            <a:r>
              <a:rPr lang="en-US" altLang="ko-KR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 </a:t>
            </a:r>
            <a:r>
              <a:rPr lang="ko-KR" alt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연구 참여 전 실시하게 될 임상척도에 대한 추가 설명문 </a:t>
            </a:r>
            <a:endParaRPr lang="en-US" altLang="ko-KR" sz="12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endParaRPr lang="en-US" altLang="ko-KR" sz="1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altLang="ko-KR" sz="1200" u="sng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Ex) </a:t>
            </a:r>
            <a:r>
              <a:rPr lang="ko-KR" altLang="ko-KR" sz="1200" u="sng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연구 평가(임상척도) 안내</a:t>
            </a:r>
          </a:p>
          <a:p>
            <a:r>
              <a:rPr lang="ko-KR" altLang="ko-KR" sz="1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연구 참여 과정에서 현재의 신체 증상, 기분 및 불안, 건강에 대한 걱정, 삶의 질 등을 알아보기 위한 여러 설문검사를 시행합니다. 각 검사는 현재 상태를 파악하고 치료 또는 교육 프로그램 참여 전후의 변화를 확인하기 위한 목적으로 사용됩니다.</a:t>
            </a:r>
          </a:p>
          <a:p>
            <a:pPr lvl="0"/>
            <a:r>
              <a:rPr lang="en-US" altLang="ko-KR" sz="1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-</a:t>
            </a:r>
            <a:r>
              <a:rPr lang="ko-KR" altLang="ko-KR" sz="1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PHQ-15</a:t>
            </a:r>
            <a:r>
              <a:rPr lang="ko-KR" altLang="ko-KR" sz="1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 현재 경험하고 있는 신체 증상의 정도를 평가합니다.</a:t>
            </a:r>
          </a:p>
          <a:p>
            <a:pPr lvl="0"/>
            <a:r>
              <a:rPr lang="en-US" altLang="ko-KR" sz="1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-</a:t>
            </a:r>
            <a:r>
              <a:rPr lang="ko-KR" altLang="ko-KR" sz="1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SSD-12</a:t>
            </a:r>
            <a:r>
              <a:rPr lang="ko-KR" altLang="ko-KR" sz="1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 신체 증상과 관련된 생각, 감정 및 행동 특성을 평가합니다.</a:t>
            </a:r>
          </a:p>
          <a:p>
            <a:pPr lvl="0"/>
            <a:r>
              <a:rPr lang="en-US" altLang="ko-KR" sz="1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-</a:t>
            </a:r>
            <a:r>
              <a:rPr lang="ko-KR" altLang="ko-KR" sz="1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BDI-II</a:t>
            </a:r>
            <a:r>
              <a:rPr lang="ko-KR" altLang="ko-KR" sz="1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 우울 증상의 정도를 평가합니다.</a:t>
            </a:r>
          </a:p>
          <a:p>
            <a:pPr lvl="0"/>
            <a:r>
              <a:rPr lang="en-US" altLang="ko-KR" sz="1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-</a:t>
            </a:r>
            <a:r>
              <a:rPr lang="ko-KR" altLang="ko-KR" sz="1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BAI</a:t>
            </a:r>
            <a:r>
              <a:rPr lang="ko-KR" altLang="ko-KR" sz="1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 불안 증상의 정도를 평가합니다.</a:t>
            </a:r>
          </a:p>
          <a:p>
            <a:pPr lvl="0"/>
            <a:r>
              <a:rPr lang="en-US" altLang="ko-KR" sz="1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-</a:t>
            </a:r>
            <a:r>
              <a:rPr lang="ko-KR" altLang="ko-KR" sz="1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ASI-3</a:t>
            </a:r>
            <a:r>
              <a:rPr lang="ko-KR" altLang="ko-KR" sz="1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 불안으로 인해 나타나는 </a:t>
            </a:r>
            <a:r>
              <a:rPr lang="ko-KR" altLang="ko-KR" sz="10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신체적·심리적</a:t>
            </a:r>
            <a:r>
              <a:rPr lang="ko-KR" altLang="ko-KR" sz="1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감각에 대한 민감성을 평가합니다.</a:t>
            </a:r>
          </a:p>
          <a:p>
            <a:pPr lvl="0"/>
            <a:r>
              <a:rPr lang="en-US" altLang="ko-KR" sz="1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-</a:t>
            </a:r>
            <a:r>
              <a:rPr lang="ko-KR" altLang="ko-KR" sz="1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WHOQOL-BREF</a:t>
            </a:r>
            <a:r>
              <a:rPr lang="ko-KR" altLang="ko-KR" sz="1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 </a:t>
            </a:r>
            <a:r>
              <a:rPr lang="ko-KR" altLang="ko-KR" sz="10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신체적·심리적</a:t>
            </a:r>
            <a:r>
              <a:rPr lang="ko-KR" altLang="ko-KR" sz="1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건강, 사회적 관계 및 생활환경 등을 포함한 전반적인 삶의 질을 평가합니다.</a:t>
            </a:r>
          </a:p>
          <a:p>
            <a:pPr lvl="0"/>
            <a:r>
              <a:rPr lang="en-US" altLang="ko-KR" sz="1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-</a:t>
            </a:r>
            <a:r>
              <a:rPr lang="ko-KR" altLang="ko-KR" sz="1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K-HAQ</a:t>
            </a:r>
            <a:r>
              <a:rPr lang="ko-KR" altLang="ko-KR" sz="1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 건강에 대한 걱정이나 염려의 정도를 평가합니다.</a:t>
            </a:r>
          </a:p>
          <a:p>
            <a:r>
              <a:rPr lang="ko-KR" altLang="ko-KR" sz="1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각 설문은 정답이 있는 검사가 아니며, 현재 자신의 상태에 가장 가까운 응답을 선택하시면 됩니다. 설문 결과는 연구 참여 전후의 증상 및 삶의 질 변화를 확인하고, 인지행동치료의 효과를 평가하기 위한 연구자료로 활용됩니다.</a:t>
            </a:r>
          </a:p>
          <a:p>
            <a:r>
              <a:rPr lang="ko-KR" altLang="ko-KR" sz="1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연구 종료 후에는 연구와 관련하여 시행한 검사 결과를 참여자가 이해하기 쉽도록 해석 및 설명과 함께 제공할 예정입니다. 연구 결과는 참여자의 개인정보가 확인되지 않도록 처리하여 연구 목적으로 활용됩니다.</a:t>
            </a:r>
          </a:p>
          <a:p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5676208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409C3-D527-A17A-04F2-CB65D91BB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52EB62-A4D0-E81C-4F9C-F0718371F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chemeClr val="accent5"/>
                </a:solidFill>
              </a:rPr>
              <a:t>연구 공통 절차 </a:t>
            </a:r>
            <a:r>
              <a:rPr lang="en-US" altLang="ko-KR" b="1" dirty="0">
                <a:solidFill>
                  <a:schemeClr val="accent5"/>
                </a:solidFill>
              </a:rPr>
              <a:t>(SSD_CBT </a:t>
            </a:r>
            <a:r>
              <a:rPr lang="ko-KR" altLang="en-US" b="1" dirty="0">
                <a:solidFill>
                  <a:schemeClr val="accent5"/>
                </a:solidFill>
              </a:rPr>
              <a:t>연구 적용</a:t>
            </a:r>
            <a:r>
              <a:rPr lang="en-US" altLang="ko-KR" b="1" dirty="0">
                <a:solidFill>
                  <a:schemeClr val="accent5"/>
                </a:solidFill>
              </a:rPr>
              <a:t>)</a:t>
            </a:r>
            <a:endParaRPr lang="ko-KR" altLang="en-US" b="1" dirty="0">
              <a:solidFill>
                <a:schemeClr val="accent5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AEB348-EA05-6203-0424-C54C9BF91CFD}"/>
              </a:ext>
            </a:extLst>
          </p:cNvPr>
          <p:cNvSpPr txBox="1"/>
          <p:nvPr/>
        </p:nvSpPr>
        <p:spPr>
          <a:xfrm>
            <a:off x="838201" y="1401145"/>
            <a:ext cx="1051559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연구 설명 및 동의서 작성</a:t>
            </a:r>
            <a:r>
              <a:rPr lang="en-US" altLang="ko-KR" dirty="0"/>
              <a:t>: IRB </a:t>
            </a:r>
            <a:r>
              <a:rPr lang="ko-KR" altLang="en-US" dirty="0"/>
              <a:t>설명문 및 동의서 서식으로 피험자 서명 후 스캔 보관</a:t>
            </a:r>
            <a:endParaRPr lang="en-US" altLang="ko-KR" dirty="0"/>
          </a:p>
          <a:p>
            <a:r>
              <a:rPr lang="en-US" altLang="ko-KR" dirty="0"/>
              <a:t>1-1. </a:t>
            </a:r>
            <a:r>
              <a:rPr lang="ko-KR" altLang="en-US" dirty="0"/>
              <a:t>무작위 배정 실시</a:t>
            </a:r>
            <a:endParaRPr lang="en-US" altLang="ko-KR" dirty="0"/>
          </a:p>
          <a:p>
            <a:r>
              <a:rPr lang="en-US" altLang="ko-KR" b="1" dirty="0"/>
              <a:t>2. </a:t>
            </a:r>
            <a:r>
              <a:rPr lang="ko-KR" altLang="en-US" b="1" dirty="0" err="1"/>
              <a:t>스크리닝</a:t>
            </a:r>
            <a:r>
              <a:rPr lang="ko-KR" altLang="en-US" b="1" dirty="0"/>
              <a:t> 및 연구 선정</a:t>
            </a:r>
            <a:r>
              <a:rPr lang="en-US" altLang="ko-KR" b="1" dirty="0"/>
              <a:t>/</a:t>
            </a:r>
            <a:r>
              <a:rPr lang="ko-KR" altLang="en-US" b="1" dirty="0"/>
              <a:t>제외 기준 확인</a:t>
            </a:r>
            <a:endParaRPr lang="en-US" altLang="ko-KR" b="1" dirty="0"/>
          </a:p>
          <a:p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2AC94B8-C027-0264-DBD9-161982031E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7880" y="2701078"/>
            <a:ext cx="3390235" cy="404725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C99A829-58B8-F70C-EAC6-64A66B3EA190}"/>
              </a:ext>
            </a:extLst>
          </p:cNvPr>
          <p:cNvSpPr txBox="1"/>
          <p:nvPr/>
        </p:nvSpPr>
        <p:spPr>
          <a:xfrm>
            <a:off x="3550715" y="2525307"/>
            <a:ext cx="5292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 </a:t>
            </a:r>
            <a:r>
              <a:rPr lang="ko-KR" altLang="en-US" sz="1200" b="1" dirty="0" err="1"/>
              <a:t>스크리닝</a:t>
            </a:r>
            <a:r>
              <a:rPr lang="ko-KR" altLang="en-US" sz="1200" b="1" dirty="0"/>
              <a:t> 척도 시행 및 선정</a:t>
            </a:r>
            <a:r>
              <a:rPr lang="en-US" altLang="ko-KR" sz="1200" b="1" dirty="0"/>
              <a:t>/</a:t>
            </a:r>
            <a:r>
              <a:rPr lang="ko-KR" altLang="en-US" sz="1200" b="1" dirty="0"/>
              <a:t>제외 기준 재확인 </a:t>
            </a:r>
            <a:r>
              <a:rPr lang="en-US" altLang="ko-KR" sz="1200" b="1" dirty="0"/>
              <a:t>–</a:t>
            </a:r>
            <a:r>
              <a:rPr lang="ko-KR" altLang="en-US" sz="1200" b="1" dirty="0"/>
              <a:t>증례기록서 기록 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A6D8857-DEC6-96FC-94EA-E0B71D1C66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3201" y="2865927"/>
            <a:ext cx="3042931" cy="3712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1629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4A421-5CDA-5812-1C61-5A944EF7B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D959AF-0AF0-9DA2-4D9B-55CC089FF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chemeClr val="accent5"/>
                </a:solidFill>
              </a:rPr>
              <a:t>연구 공통 절차 </a:t>
            </a:r>
            <a:r>
              <a:rPr lang="en-US" altLang="ko-KR" b="1" dirty="0">
                <a:solidFill>
                  <a:schemeClr val="accent5"/>
                </a:solidFill>
              </a:rPr>
              <a:t>(SSD_CBT </a:t>
            </a:r>
            <a:r>
              <a:rPr lang="ko-KR" altLang="en-US" b="1" dirty="0">
                <a:solidFill>
                  <a:schemeClr val="accent5"/>
                </a:solidFill>
              </a:rPr>
              <a:t>연구 적용</a:t>
            </a:r>
            <a:r>
              <a:rPr lang="en-US" altLang="ko-KR" b="1" dirty="0">
                <a:solidFill>
                  <a:schemeClr val="accent5"/>
                </a:solidFill>
              </a:rPr>
              <a:t>)</a:t>
            </a:r>
            <a:endParaRPr lang="ko-KR" altLang="en-US" b="1" dirty="0">
              <a:solidFill>
                <a:schemeClr val="accent5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BFC836-2C4B-C39F-6C3A-0F57EF3D8A33}"/>
              </a:ext>
            </a:extLst>
          </p:cNvPr>
          <p:cNvSpPr txBox="1"/>
          <p:nvPr/>
        </p:nvSpPr>
        <p:spPr>
          <a:xfrm>
            <a:off x="838201" y="1401145"/>
            <a:ext cx="1051559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연구 설명 및 동의서 작성</a:t>
            </a:r>
            <a:r>
              <a:rPr lang="en-US" altLang="ko-KR" dirty="0"/>
              <a:t>: IRB </a:t>
            </a:r>
            <a:r>
              <a:rPr lang="ko-KR" altLang="en-US" dirty="0"/>
              <a:t>설명문 및 동의서 서식으로 피험자 서명 후 스캔 보관</a:t>
            </a:r>
            <a:endParaRPr lang="en-US" altLang="ko-KR" dirty="0"/>
          </a:p>
          <a:p>
            <a:r>
              <a:rPr lang="en-US" altLang="ko-KR" dirty="0"/>
              <a:t>1-1. </a:t>
            </a:r>
            <a:r>
              <a:rPr lang="ko-KR" altLang="en-US" dirty="0"/>
              <a:t>무작위 배정 실시</a:t>
            </a:r>
            <a:endParaRPr lang="en-US" altLang="ko-KR" dirty="0"/>
          </a:p>
          <a:p>
            <a:r>
              <a:rPr lang="en-US" altLang="ko-KR" b="1" dirty="0"/>
              <a:t>2. </a:t>
            </a:r>
            <a:r>
              <a:rPr lang="ko-KR" altLang="en-US" b="1" dirty="0" err="1"/>
              <a:t>스크리닝</a:t>
            </a:r>
            <a:r>
              <a:rPr lang="ko-KR" altLang="en-US" b="1" dirty="0"/>
              <a:t> 및 연구 선정</a:t>
            </a:r>
            <a:r>
              <a:rPr lang="en-US" altLang="ko-KR" b="1" dirty="0"/>
              <a:t>/</a:t>
            </a:r>
            <a:r>
              <a:rPr lang="ko-KR" altLang="en-US" b="1" dirty="0"/>
              <a:t>제외 기준 확인</a:t>
            </a:r>
            <a:endParaRPr lang="en-US" altLang="ko-KR" b="1" dirty="0"/>
          </a:p>
          <a:p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9D39C97-93E3-8322-D45F-732F9835C7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80" y="2531513"/>
            <a:ext cx="3390235" cy="404725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7089C0-B2A7-FAA6-1315-5522950E3419}"/>
              </a:ext>
            </a:extLst>
          </p:cNvPr>
          <p:cNvSpPr txBox="1"/>
          <p:nvPr/>
        </p:nvSpPr>
        <p:spPr>
          <a:xfrm>
            <a:off x="803424" y="2449709"/>
            <a:ext cx="5292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 </a:t>
            </a:r>
            <a:r>
              <a:rPr lang="ko-KR" altLang="en-US" sz="1200" b="1" dirty="0" err="1"/>
              <a:t>스크리닝</a:t>
            </a:r>
            <a:r>
              <a:rPr lang="ko-KR" altLang="en-US" sz="1200" b="1" dirty="0"/>
              <a:t> 척도 시행 및 선정</a:t>
            </a:r>
            <a:r>
              <a:rPr lang="en-US" altLang="ko-KR" sz="1200" b="1" dirty="0"/>
              <a:t>/</a:t>
            </a:r>
            <a:r>
              <a:rPr lang="ko-KR" altLang="en-US" sz="1200" b="1" dirty="0"/>
              <a:t>제외 기준 재확인 </a:t>
            </a:r>
            <a:r>
              <a:rPr lang="en-US" altLang="ko-KR" sz="1200" b="1" dirty="0"/>
              <a:t>–</a:t>
            </a:r>
            <a:r>
              <a:rPr lang="ko-KR" altLang="en-US" sz="1200" b="1" dirty="0"/>
              <a:t>증례기록서 기록 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16F3BD5-233F-0ACD-EF65-DBC9A2B034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7259" y="2663806"/>
            <a:ext cx="3042931" cy="37128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7C86AA7-D617-A310-A286-CA123FD4A18E}"/>
              </a:ext>
            </a:extLst>
          </p:cNvPr>
          <p:cNvSpPr txBox="1"/>
          <p:nvPr/>
        </p:nvSpPr>
        <p:spPr>
          <a:xfrm>
            <a:off x="6612208" y="4058562"/>
            <a:ext cx="541931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연구 일정표 </a:t>
            </a:r>
            <a:r>
              <a:rPr lang="en-US" altLang="ko-KR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(~</a:t>
            </a:r>
            <a:r>
              <a:rPr lang="ko-KR" alt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증례기록서</a:t>
            </a:r>
            <a:r>
              <a:rPr lang="en-US" altLang="ko-KR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) </a:t>
            </a:r>
            <a:r>
              <a:rPr lang="ko-KR" alt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탭 </a:t>
            </a:r>
            <a:endParaRPr lang="en-US" altLang="ko-KR" sz="12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endParaRPr lang="en-US" altLang="ko-KR" sz="12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altLang="ko-KR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-</a:t>
            </a:r>
            <a:r>
              <a:rPr lang="ko-KR" alt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각 일정 별 환자에게 안내 필요한 사항 정리 화면 </a:t>
            </a:r>
            <a:endParaRPr lang="en-US" altLang="ko-KR" sz="12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endParaRPr lang="en-US" altLang="ko-KR" sz="12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altLang="ko-KR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Ex) </a:t>
            </a:r>
            <a:r>
              <a:rPr lang="ko-KR" alt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임상척도 무엇을 평가하는 설문인지 </a:t>
            </a:r>
            <a:r>
              <a:rPr lang="en-US" altLang="ko-KR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/ </a:t>
            </a:r>
            <a:r>
              <a:rPr lang="en-US" altLang="ko-KR" sz="1200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fNIRS</a:t>
            </a:r>
            <a:r>
              <a:rPr lang="en-US" altLang="ko-KR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ko-KR" alt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유의사항 </a:t>
            </a:r>
            <a:r>
              <a:rPr lang="en-US" altLang="ko-KR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52751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B1F8B-5DB5-F459-7020-3E6C987DF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F431AE-B793-24F3-F8A4-546798615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chemeClr val="accent5"/>
                </a:solidFill>
              </a:rPr>
              <a:t>연구 공통 절차 </a:t>
            </a:r>
            <a:r>
              <a:rPr lang="en-US" altLang="ko-KR" b="1" dirty="0">
                <a:solidFill>
                  <a:schemeClr val="accent5"/>
                </a:solidFill>
              </a:rPr>
              <a:t>(SSD_CBT </a:t>
            </a:r>
            <a:r>
              <a:rPr lang="ko-KR" altLang="en-US" b="1" dirty="0">
                <a:solidFill>
                  <a:schemeClr val="accent5"/>
                </a:solidFill>
              </a:rPr>
              <a:t>연구 적용</a:t>
            </a:r>
            <a:r>
              <a:rPr lang="en-US" altLang="ko-KR" b="1" dirty="0">
                <a:solidFill>
                  <a:schemeClr val="accent5"/>
                </a:solidFill>
              </a:rPr>
              <a:t>)</a:t>
            </a:r>
            <a:endParaRPr lang="ko-KR" altLang="en-US" b="1" dirty="0">
              <a:solidFill>
                <a:schemeClr val="accent5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B810E7-D2EA-8D77-8D75-1287FFB70CCC}"/>
              </a:ext>
            </a:extLst>
          </p:cNvPr>
          <p:cNvSpPr txBox="1"/>
          <p:nvPr/>
        </p:nvSpPr>
        <p:spPr>
          <a:xfrm>
            <a:off x="838201" y="1589460"/>
            <a:ext cx="105155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3. </a:t>
            </a:r>
            <a:r>
              <a:rPr lang="ko-KR" altLang="en-US" dirty="0"/>
              <a:t>병력 및 복용약물 조사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3FD9A7-7B7B-01D7-3AFF-9A0DE925D243}"/>
              </a:ext>
            </a:extLst>
          </p:cNvPr>
          <p:cNvSpPr txBox="1"/>
          <p:nvPr/>
        </p:nvSpPr>
        <p:spPr>
          <a:xfrm>
            <a:off x="2949146" y="2495074"/>
            <a:ext cx="53733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병력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병용약물 조사</a:t>
            </a:r>
            <a:r>
              <a:rPr lang="en-US" altLang="ko-KR" sz="1200" b="1" dirty="0"/>
              <a:t>(</a:t>
            </a:r>
            <a:r>
              <a:rPr lang="ko-KR" altLang="en-US" sz="1200" b="1" dirty="0"/>
              <a:t>환자 구두 질문</a:t>
            </a:r>
            <a:r>
              <a:rPr lang="en-US" altLang="ko-KR" sz="1200" b="1" dirty="0"/>
              <a:t>, EMR </a:t>
            </a:r>
            <a:r>
              <a:rPr lang="ko-KR" altLang="en-US" sz="1200" b="1" dirty="0"/>
              <a:t>확인</a:t>
            </a:r>
            <a:r>
              <a:rPr lang="en-US" altLang="ko-KR" sz="1200" b="1" dirty="0"/>
              <a:t>) –</a:t>
            </a:r>
            <a:r>
              <a:rPr lang="ko-KR" altLang="en-US" sz="1200" b="1" dirty="0"/>
              <a:t>증례기록서 기록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704AC87-DC74-E39D-C77D-65ACCADD26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4517" y="2835573"/>
            <a:ext cx="2789806" cy="385911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0C9CFE7-D8D6-1ECA-F555-91ED4F8AFE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5836" y="2835574"/>
            <a:ext cx="2866374" cy="3859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6661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17B67-89F9-E164-4A70-CDA2826F7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7AF7B7-B674-72AA-70E9-CA2892471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chemeClr val="accent5"/>
                </a:solidFill>
              </a:rPr>
              <a:t>연구 공통 절차 </a:t>
            </a:r>
            <a:r>
              <a:rPr lang="en-US" altLang="ko-KR" b="1" dirty="0">
                <a:solidFill>
                  <a:schemeClr val="accent5"/>
                </a:solidFill>
              </a:rPr>
              <a:t>(SSD_CBT </a:t>
            </a:r>
            <a:r>
              <a:rPr lang="ko-KR" altLang="en-US" b="1" dirty="0">
                <a:solidFill>
                  <a:schemeClr val="accent5"/>
                </a:solidFill>
              </a:rPr>
              <a:t>연구 적용</a:t>
            </a:r>
            <a:r>
              <a:rPr lang="en-US" altLang="ko-KR" b="1" dirty="0">
                <a:solidFill>
                  <a:schemeClr val="accent5"/>
                </a:solidFill>
              </a:rPr>
              <a:t>)</a:t>
            </a:r>
            <a:endParaRPr lang="ko-KR" altLang="en-US" b="1" dirty="0">
              <a:solidFill>
                <a:schemeClr val="accent5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8198D7-F161-68C1-A1ED-D8E150C893BE}"/>
              </a:ext>
            </a:extLst>
          </p:cNvPr>
          <p:cNvSpPr txBox="1"/>
          <p:nvPr/>
        </p:nvSpPr>
        <p:spPr>
          <a:xfrm>
            <a:off x="908262" y="1564913"/>
            <a:ext cx="105155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4. </a:t>
            </a:r>
            <a:r>
              <a:rPr lang="ko-KR" altLang="en-US" dirty="0"/>
              <a:t>인구학적 조사</a:t>
            </a:r>
            <a:r>
              <a:rPr lang="en-US" altLang="ko-KR" dirty="0"/>
              <a:t>/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필요시</a:t>
            </a:r>
            <a:r>
              <a:rPr lang="en-US" altLang="ko-KR" dirty="0"/>
              <a:t>) </a:t>
            </a:r>
            <a:r>
              <a:rPr lang="ko-KR" altLang="en-US" dirty="0"/>
              <a:t>신분증</a:t>
            </a:r>
            <a:r>
              <a:rPr lang="en-US" altLang="ko-KR" dirty="0"/>
              <a:t>&amp;</a:t>
            </a:r>
            <a:r>
              <a:rPr lang="ko-KR" altLang="en-US" dirty="0"/>
              <a:t>통장사본</a:t>
            </a:r>
            <a:r>
              <a:rPr lang="en-US" altLang="ko-KR" dirty="0"/>
              <a:t>&amp;</a:t>
            </a:r>
            <a:r>
              <a:rPr lang="ko-KR" altLang="en-US" dirty="0"/>
              <a:t>가족관계증명서</a:t>
            </a:r>
            <a:r>
              <a:rPr lang="en-US" altLang="ko-KR" dirty="0"/>
              <a:t>(</a:t>
            </a:r>
            <a:r>
              <a:rPr lang="ko-KR" altLang="en-US" dirty="0"/>
              <a:t>미성년자</a:t>
            </a:r>
            <a:r>
              <a:rPr lang="en-US" altLang="ko-KR" dirty="0"/>
              <a:t>) </a:t>
            </a:r>
            <a:r>
              <a:rPr lang="ko-KR" altLang="en-US" dirty="0"/>
              <a:t>제출</a:t>
            </a:r>
            <a:endParaRPr lang="en-US" altLang="ko-KR" dirty="0"/>
          </a:p>
          <a:p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E5F8604-41F2-A495-E978-61BDA80E5F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2990" y="1953052"/>
            <a:ext cx="3877504" cy="4539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2011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8654C-21AD-F602-C40E-44D2BCB59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17BAFD-E74A-D1DB-CAC4-1EDB38DA1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chemeClr val="accent5"/>
                </a:solidFill>
              </a:rPr>
              <a:t>연구 공통 절차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0AC327-E08D-BD7D-A73D-AEB5A64728D7}"/>
              </a:ext>
            </a:extLst>
          </p:cNvPr>
          <p:cNvSpPr txBox="1"/>
          <p:nvPr/>
        </p:nvSpPr>
        <p:spPr>
          <a:xfrm>
            <a:off x="895989" y="1589460"/>
            <a:ext cx="105155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5. </a:t>
            </a:r>
            <a:r>
              <a:rPr lang="ko-KR" altLang="en-US" dirty="0"/>
              <a:t>임상시험 진행 </a:t>
            </a:r>
            <a:r>
              <a:rPr lang="en-US" altLang="ko-KR" dirty="0"/>
              <a:t>(</a:t>
            </a:r>
            <a:r>
              <a:rPr lang="ko-KR" altLang="en-US" dirty="0"/>
              <a:t>자기보고식 설문</a:t>
            </a:r>
            <a:r>
              <a:rPr lang="en-US" altLang="ko-KR" dirty="0"/>
              <a:t>, </a:t>
            </a:r>
            <a:r>
              <a:rPr lang="en-US" altLang="ko-KR" dirty="0" err="1"/>
              <a:t>fNIRS</a:t>
            </a:r>
            <a:r>
              <a:rPr lang="ko-KR" altLang="en-US" dirty="0"/>
              <a:t> 등 각 방문별 절차에 따라 진행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14B1BBE-1629-E6D6-8FAF-E27DE7C259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374" y="2189624"/>
            <a:ext cx="4419239" cy="452109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7B38368-F778-F5D5-CA1C-1074734616EE}"/>
              </a:ext>
            </a:extLst>
          </p:cNvPr>
          <p:cNvSpPr txBox="1"/>
          <p:nvPr/>
        </p:nvSpPr>
        <p:spPr>
          <a:xfrm>
            <a:off x="5965079" y="2614325"/>
            <a:ext cx="49709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ko-KR" altLang="en-US" dirty="0"/>
              <a:t>사전 평가 </a:t>
            </a:r>
            <a:r>
              <a:rPr lang="en-US" altLang="ko-KR" dirty="0"/>
              <a:t>(</a:t>
            </a:r>
            <a:r>
              <a:rPr lang="ko-KR" altLang="en-US" dirty="0"/>
              <a:t>소요시간 </a:t>
            </a:r>
            <a:r>
              <a:rPr lang="en-US" altLang="ko-KR" dirty="0"/>
              <a:t>40</a:t>
            </a:r>
            <a:r>
              <a:rPr lang="ko-KR" altLang="en-US" dirty="0"/>
              <a:t>분</a:t>
            </a:r>
            <a:r>
              <a:rPr lang="en-US" altLang="ko-KR" dirty="0"/>
              <a:t>)</a:t>
            </a:r>
          </a:p>
          <a:p>
            <a:pPr marL="342900" indent="-342900">
              <a:buAutoNum type="arabicParenR"/>
            </a:pP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임상척도 실시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 err="1"/>
              <a:t>fNIRS</a:t>
            </a:r>
            <a:r>
              <a:rPr lang="en-US" altLang="ko-KR" dirty="0"/>
              <a:t> </a:t>
            </a:r>
            <a:r>
              <a:rPr lang="ko-KR" altLang="en-US" dirty="0"/>
              <a:t>측정</a:t>
            </a:r>
            <a:endParaRPr lang="en-US" altLang="ko-KR" dirty="0"/>
          </a:p>
          <a:p>
            <a:pPr marL="285750" indent="-285750">
              <a:buFontTx/>
              <a:buChar char="-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394295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B9BDF-392B-EE90-27C4-5E39FCB20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10277F-14AD-7D04-9209-9685053A0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chemeClr val="accent5"/>
                </a:solidFill>
              </a:rPr>
              <a:t>연구 공통 절차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F119F6-2A07-C03F-0347-6693B4486965}"/>
              </a:ext>
            </a:extLst>
          </p:cNvPr>
          <p:cNvSpPr txBox="1"/>
          <p:nvPr/>
        </p:nvSpPr>
        <p:spPr>
          <a:xfrm>
            <a:off x="895989" y="1589460"/>
            <a:ext cx="105155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5. </a:t>
            </a:r>
            <a:r>
              <a:rPr lang="ko-KR" altLang="en-US" dirty="0"/>
              <a:t>임상시험 진행 </a:t>
            </a:r>
            <a:r>
              <a:rPr lang="en-US" altLang="ko-KR" dirty="0"/>
              <a:t>(</a:t>
            </a:r>
            <a:r>
              <a:rPr lang="ko-KR" altLang="en-US" dirty="0"/>
              <a:t>임상척도</a:t>
            </a:r>
            <a:r>
              <a:rPr lang="en-US" altLang="ko-KR" dirty="0"/>
              <a:t>, </a:t>
            </a:r>
            <a:r>
              <a:rPr lang="en-US" altLang="ko-KR" dirty="0" err="1"/>
              <a:t>fNIRS</a:t>
            </a:r>
            <a:r>
              <a:rPr lang="ko-KR" altLang="en-US" dirty="0"/>
              <a:t> 등 각 방문별 절차에 따라 진행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endParaRPr lang="en-US" altLang="ko-K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0AA2F0-BF6B-5F7B-9E19-11942F06DF1F}"/>
              </a:ext>
            </a:extLst>
          </p:cNvPr>
          <p:cNvSpPr txBox="1"/>
          <p:nvPr/>
        </p:nvSpPr>
        <p:spPr>
          <a:xfrm>
            <a:off x="421478" y="5380672"/>
            <a:ext cx="1154550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1-1) </a:t>
            </a:r>
            <a:r>
              <a:rPr lang="ko-KR" altLang="en-US" sz="1400" dirty="0"/>
              <a:t>사전 평가 직후</a:t>
            </a:r>
            <a:endParaRPr lang="en-US" altLang="ko-KR" sz="1400" dirty="0"/>
          </a:p>
          <a:p>
            <a:pPr marL="342900" indent="-342900">
              <a:buAutoNum type="arabicParenR"/>
            </a:pP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피험자 정보 </a:t>
            </a:r>
            <a:r>
              <a:rPr lang="en-US" altLang="ko-KR" sz="1400" dirty="0"/>
              <a:t>/ </a:t>
            </a:r>
            <a:r>
              <a:rPr lang="ko-KR" altLang="en-US" sz="1400" dirty="0"/>
              <a:t>피험자별 방문 일정</a:t>
            </a:r>
            <a:r>
              <a:rPr lang="en-US" altLang="ko-KR" sz="1400" dirty="0"/>
              <a:t> </a:t>
            </a:r>
            <a:r>
              <a:rPr lang="ko-KR" altLang="en-US" sz="1400" dirty="0"/>
              <a:t>시트에 작성 </a:t>
            </a:r>
            <a:r>
              <a:rPr lang="en-US" altLang="ko-KR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-&gt; Mind flow </a:t>
            </a:r>
            <a:r>
              <a:rPr lang="ko-KR" altLang="en-US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활용</a:t>
            </a:r>
            <a:r>
              <a:rPr lang="en-US" altLang="ko-KR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 </a:t>
            </a:r>
            <a:r>
              <a:rPr lang="ko-KR" altLang="en-US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피험자 정보</a:t>
            </a:r>
            <a:r>
              <a:rPr lang="en-US" altLang="ko-KR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  <a:r>
              <a:rPr lang="ko-KR" altLang="en-US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연구 시작일자 입력 시 방문별 일정표 자동 생성</a:t>
            </a:r>
            <a:r>
              <a:rPr lang="en-US" altLang="ko-KR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+Print </a:t>
            </a:r>
            <a:r>
              <a:rPr lang="ko-KR" altLang="en-US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기능 </a:t>
            </a:r>
            <a:r>
              <a:rPr lang="en-US" altLang="ko-KR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</a:t>
            </a:r>
            <a:r>
              <a:rPr lang="ko-KR" altLang="en-US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피험자에게 배포용</a:t>
            </a:r>
            <a:r>
              <a:rPr lang="en-US" altLang="ko-KR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) or</a:t>
            </a:r>
            <a:r>
              <a:rPr lang="ko-KR" altLang="en-US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일정표 이미지 전송 기능</a:t>
            </a:r>
            <a:r>
              <a:rPr lang="en-US" altLang="ko-KR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임상척도 및 병력</a:t>
            </a:r>
            <a:r>
              <a:rPr lang="en-US" altLang="ko-KR" sz="1400" dirty="0"/>
              <a:t>,</a:t>
            </a:r>
            <a:r>
              <a:rPr lang="ko-KR" altLang="en-US" sz="1400" dirty="0" err="1"/>
              <a:t>약물력</a:t>
            </a:r>
            <a:r>
              <a:rPr lang="ko-KR" altLang="en-US" sz="1400" dirty="0"/>
              <a:t> 코딩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858EB04-542A-B5EE-53AD-598D03ACB9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699" y="2033939"/>
            <a:ext cx="5414725" cy="3183454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53EF6369-F689-D09B-8F81-82142B1AD2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3132" y="2097487"/>
            <a:ext cx="5561751" cy="3119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9274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C71DD-7C9E-522B-2CA2-BF3323C95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FC1A3C-F789-8EC2-649D-DD670B6B7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chemeClr val="accent5"/>
                </a:solidFill>
              </a:rPr>
              <a:t>연구 공통 절차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FDBB5A-BEF4-0417-03A4-53DC2A07B2FA}"/>
              </a:ext>
            </a:extLst>
          </p:cNvPr>
          <p:cNvSpPr txBox="1"/>
          <p:nvPr/>
        </p:nvSpPr>
        <p:spPr>
          <a:xfrm>
            <a:off x="895989" y="1589460"/>
            <a:ext cx="105155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5. </a:t>
            </a:r>
            <a:r>
              <a:rPr lang="ko-KR" altLang="en-US" dirty="0"/>
              <a:t>임상시험 진행 </a:t>
            </a:r>
            <a:r>
              <a:rPr lang="en-US" altLang="ko-KR" dirty="0"/>
              <a:t>(</a:t>
            </a:r>
            <a:r>
              <a:rPr lang="ko-KR" altLang="en-US" dirty="0"/>
              <a:t>자기보고식 설문</a:t>
            </a:r>
            <a:r>
              <a:rPr lang="en-US" altLang="ko-KR" dirty="0"/>
              <a:t>, </a:t>
            </a:r>
            <a:r>
              <a:rPr lang="en-US" altLang="ko-KR" dirty="0" err="1"/>
              <a:t>fNIRS</a:t>
            </a:r>
            <a:r>
              <a:rPr lang="ko-KR" altLang="en-US" dirty="0"/>
              <a:t> 등 각 방문별 절차에 따라 진행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endParaRPr lang="en-US" altLang="ko-K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E570B5-10AD-A1A9-2103-CE64249A7A16}"/>
              </a:ext>
            </a:extLst>
          </p:cNvPr>
          <p:cNvSpPr txBox="1"/>
          <p:nvPr/>
        </p:nvSpPr>
        <p:spPr>
          <a:xfrm>
            <a:off x="6467262" y="2464728"/>
            <a:ext cx="4752527" cy="3677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1-1) </a:t>
            </a:r>
            <a:r>
              <a:rPr lang="ko-KR" altLang="en-US" dirty="0"/>
              <a:t>사전 평가 직후</a:t>
            </a:r>
            <a:endParaRPr lang="en-US" altLang="ko-KR" dirty="0"/>
          </a:p>
          <a:p>
            <a:pPr marL="342900" indent="-342900">
              <a:buAutoNum type="arabicParenR"/>
            </a:pP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피험자별 </a:t>
            </a:r>
            <a:r>
              <a:rPr lang="en-US" altLang="ko-KR" dirty="0"/>
              <a:t>EMR </a:t>
            </a:r>
            <a:r>
              <a:rPr lang="ko-KR" altLang="en-US" dirty="0"/>
              <a:t>메모 기재</a:t>
            </a:r>
            <a:endParaRPr lang="en-US" altLang="ko-KR" dirty="0"/>
          </a:p>
          <a:p>
            <a:pPr fontAlgn="base"/>
            <a:r>
              <a:rPr lang="en-US" altLang="ko-KR" sz="1100" dirty="0"/>
              <a:t>Ex) </a:t>
            </a:r>
          </a:p>
          <a:p>
            <a:pPr fontAlgn="base"/>
            <a:r>
              <a:rPr lang="en-US" altLang="ko-KR" sz="1100" dirty="0"/>
              <a:t>*</a:t>
            </a:r>
            <a:r>
              <a:rPr lang="ko-KR" altLang="ko-KR" sz="1100" dirty="0" err="1"/>
              <a:t>실험군</a:t>
            </a:r>
            <a:endParaRPr lang="ko-KR" altLang="ko-KR" sz="1100" dirty="0"/>
          </a:p>
          <a:p>
            <a:pPr fontAlgn="base"/>
            <a:r>
              <a:rPr lang="en-US" altLang="ko-KR" sz="1100" dirty="0"/>
              <a:t>-&gt; </a:t>
            </a:r>
            <a:r>
              <a:rPr lang="ko-KR" altLang="ko-KR" sz="1100" dirty="0"/>
              <a:t>연구 참여 시작</a:t>
            </a:r>
            <a:r>
              <a:rPr lang="en-US" altLang="ko-KR" sz="1100" dirty="0"/>
              <a:t>: YYMMDD(</a:t>
            </a:r>
            <a:r>
              <a:rPr lang="ko-KR" altLang="ko-KR" sz="1100" dirty="0"/>
              <a:t>동의서작성일</a:t>
            </a:r>
            <a:r>
              <a:rPr lang="en-US" altLang="ko-KR" sz="1100" dirty="0"/>
              <a:t>)) SSD CBT </a:t>
            </a:r>
            <a:r>
              <a:rPr lang="ko-KR" altLang="ko-KR" sz="1100" dirty="0"/>
              <a:t>연구 등록</a:t>
            </a:r>
            <a:r>
              <a:rPr lang="en-US" altLang="ko-KR" sz="1100" dirty="0"/>
              <a:t>(CBT </a:t>
            </a:r>
            <a:r>
              <a:rPr lang="ko-KR" altLang="ko-KR" sz="1100" dirty="0"/>
              <a:t>시작일 </a:t>
            </a:r>
            <a:r>
              <a:rPr lang="en-US" altLang="ko-KR" sz="1100" dirty="0"/>
              <a:t>- </a:t>
            </a:r>
            <a:r>
              <a:rPr lang="ko-KR" altLang="ko-KR" sz="1100" dirty="0"/>
              <a:t>담당자</a:t>
            </a:r>
            <a:r>
              <a:rPr lang="en-US" altLang="ko-KR" sz="1100" dirty="0"/>
              <a:t>, </a:t>
            </a:r>
            <a:r>
              <a:rPr lang="ko-KR" altLang="ko-KR" sz="1100" dirty="0"/>
              <a:t>일정</a:t>
            </a:r>
            <a:r>
              <a:rPr lang="en-US" altLang="ko-KR" sz="1100" dirty="0"/>
              <a:t>)</a:t>
            </a:r>
            <a:endParaRPr lang="ko-KR" altLang="ko-KR" sz="1100" dirty="0"/>
          </a:p>
          <a:p>
            <a:pPr fontAlgn="base"/>
            <a:r>
              <a:rPr lang="en-US" altLang="ko-KR" sz="1100" dirty="0"/>
              <a:t>-&gt; </a:t>
            </a:r>
            <a:r>
              <a:rPr lang="ko-KR" altLang="ko-KR" sz="1100" dirty="0"/>
              <a:t>참여 종료</a:t>
            </a:r>
            <a:r>
              <a:rPr lang="en-US" altLang="ko-KR" sz="1100" dirty="0"/>
              <a:t>: YYMMDD(</a:t>
            </a:r>
            <a:r>
              <a:rPr lang="ko-KR" altLang="ko-KR" sz="1100" dirty="0"/>
              <a:t>종료일</a:t>
            </a:r>
            <a:r>
              <a:rPr lang="en-US" altLang="ko-KR" sz="1100" dirty="0"/>
              <a:t>))SSD CBT </a:t>
            </a:r>
            <a:r>
              <a:rPr lang="ko-KR" altLang="ko-KR" sz="1100" dirty="0"/>
              <a:t>참여 종료</a:t>
            </a:r>
            <a:r>
              <a:rPr lang="en-US" altLang="ko-KR" sz="1100" dirty="0"/>
              <a:t>(</a:t>
            </a:r>
            <a:r>
              <a:rPr lang="ko-KR" altLang="ko-KR" sz="1100" dirty="0" err="1"/>
              <a:t>실험군</a:t>
            </a:r>
            <a:r>
              <a:rPr lang="en-US" altLang="ko-KR" sz="1100" dirty="0"/>
              <a:t>) </a:t>
            </a:r>
          </a:p>
          <a:p>
            <a:pPr fontAlgn="base"/>
            <a:endParaRPr lang="ko-KR" altLang="ko-KR" sz="1100" dirty="0"/>
          </a:p>
          <a:p>
            <a:pPr fontAlgn="base"/>
            <a:r>
              <a:rPr lang="en-US" altLang="ko-KR" sz="1100" dirty="0"/>
              <a:t>*</a:t>
            </a:r>
            <a:r>
              <a:rPr lang="ko-KR" altLang="ko-KR" sz="1100" dirty="0"/>
              <a:t>대조군</a:t>
            </a:r>
          </a:p>
          <a:p>
            <a:pPr fontAlgn="base"/>
            <a:r>
              <a:rPr lang="en-US" altLang="ko-KR" sz="1100" dirty="0"/>
              <a:t>-&gt; </a:t>
            </a:r>
            <a:r>
              <a:rPr lang="ko-KR" altLang="ko-KR" sz="1100" dirty="0"/>
              <a:t>연구 참여 시작</a:t>
            </a:r>
            <a:r>
              <a:rPr lang="en-US" altLang="ko-KR" sz="1100" dirty="0"/>
              <a:t>: YYMMDD(</a:t>
            </a:r>
            <a:r>
              <a:rPr lang="ko-KR" altLang="ko-KR" sz="1100" dirty="0"/>
              <a:t>동의서작성일</a:t>
            </a:r>
            <a:r>
              <a:rPr lang="en-US" altLang="ko-KR" sz="1100" dirty="0"/>
              <a:t>)) SSD CBT </a:t>
            </a:r>
            <a:r>
              <a:rPr lang="ko-KR" altLang="ko-KR" sz="1100" dirty="0"/>
              <a:t>연구 등록</a:t>
            </a:r>
            <a:r>
              <a:rPr lang="en-US" altLang="ko-KR" sz="1100" dirty="0"/>
              <a:t>(</a:t>
            </a:r>
            <a:r>
              <a:rPr lang="ko-KR" altLang="ko-KR" sz="1100" dirty="0"/>
              <a:t>대조군</a:t>
            </a:r>
            <a:r>
              <a:rPr lang="en-US" altLang="ko-KR" sz="1100" dirty="0"/>
              <a:t>)</a:t>
            </a:r>
            <a:endParaRPr lang="ko-KR" altLang="ko-KR" sz="1100" dirty="0"/>
          </a:p>
          <a:p>
            <a:pPr fontAlgn="base"/>
            <a:r>
              <a:rPr lang="en-US" altLang="ko-KR" sz="1100" dirty="0"/>
              <a:t>-&gt; </a:t>
            </a:r>
            <a:r>
              <a:rPr lang="ko-KR" altLang="ko-KR" sz="1100" dirty="0"/>
              <a:t>참여 종료</a:t>
            </a:r>
            <a:r>
              <a:rPr lang="en-US" altLang="ko-KR" sz="1100" dirty="0"/>
              <a:t>: YYMMDD(</a:t>
            </a:r>
            <a:r>
              <a:rPr lang="ko-KR" altLang="ko-KR" sz="1100" dirty="0"/>
              <a:t>종료일</a:t>
            </a:r>
            <a:r>
              <a:rPr lang="en-US" altLang="ko-KR" sz="1100" dirty="0"/>
              <a:t>))SSD CBT </a:t>
            </a:r>
            <a:r>
              <a:rPr lang="ko-KR" altLang="ko-KR" sz="1100" dirty="0"/>
              <a:t>참여 종료</a:t>
            </a:r>
            <a:r>
              <a:rPr lang="en-US" altLang="ko-KR" sz="1100" dirty="0"/>
              <a:t>(</a:t>
            </a:r>
            <a:r>
              <a:rPr lang="ko-KR" altLang="ko-KR" sz="1100" dirty="0"/>
              <a:t>대조군</a:t>
            </a:r>
            <a:r>
              <a:rPr lang="en-US" altLang="ko-KR" sz="1100" dirty="0"/>
              <a:t>)</a:t>
            </a:r>
          </a:p>
          <a:p>
            <a:pPr marL="171450" indent="-171450" fontAlgn="base">
              <a:buFont typeface="Wingdings" panose="05000000000000000000" pitchFamily="2" charset="2"/>
              <a:buChar char="è"/>
            </a:pPr>
            <a:endParaRPr lang="en-US" altLang="ko-KR" sz="1100" dirty="0"/>
          </a:p>
          <a:p>
            <a:pPr marL="171450" indent="-171450" fontAlgn="base">
              <a:buFont typeface="Wingdings" panose="05000000000000000000" pitchFamily="2" charset="2"/>
              <a:buChar char="è"/>
            </a:pPr>
            <a:endParaRPr lang="en-US" altLang="ko-KR" sz="1100" dirty="0"/>
          </a:p>
          <a:p>
            <a:pPr fontAlgn="base"/>
            <a:endParaRPr lang="en-US" altLang="ko-KR" sz="1100" dirty="0"/>
          </a:p>
          <a:p>
            <a:pPr fontAlgn="base"/>
            <a:endParaRPr lang="ko-KR" altLang="ko-KR" sz="1100" dirty="0"/>
          </a:p>
          <a:p>
            <a:endParaRPr lang="en-US" altLang="ko-KR" dirty="0"/>
          </a:p>
          <a:p>
            <a:pPr marL="285750" indent="-285750">
              <a:buFontTx/>
              <a:buChar char="-"/>
            </a:pP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D2286B1-48A2-989D-A20E-53665017EA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8707" y="2681479"/>
            <a:ext cx="3676839" cy="2121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9291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36BC7-3CEE-5236-6B47-00B1A27FF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B2EBE6-5DD7-841A-F9A2-59B9F2513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chemeClr val="accent5"/>
                </a:solidFill>
              </a:rPr>
              <a:t>연구 공통 절차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E782B31-EF29-4CA6-6AB3-22BEC412A4A9}"/>
              </a:ext>
            </a:extLst>
          </p:cNvPr>
          <p:cNvSpPr txBox="1"/>
          <p:nvPr/>
        </p:nvSpPr>
        <p:spPr>
          <a:xfrm>
            <a:off x="895989" y="1589460"/>
            <a:ext cx="105155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5. </a:t>
            </a:r>
            <a:r>
              <a:rPr lang="ko-KR" altLang="en-US" dirty="0"/>
              <a:t>임상시험 진행 </a:t>
            </a:r>
            <a:r>
              <a:rPr lang="en-US" altLang="ko-KR" dirty="0"/>
              <a:t>(</a:t>
            </a:r>
            <a:r>
              <a:rPr lang="ko-KR" altLang="en-US" dirty="0"/>
              <a:t>자기보고식 설문</a:t>
            </a:r>
            <a:r>
              <a:rPr lang="en-US" altLang="ko-KR" dirty="0"/>
              <a:t>, </a:t>
            </a:r>
            <a:r>
              <a:rPr lang="en-US" altLang="ko-KR" dirty="0" err="1"/>
              <a:t>fNIRS</a:t>
            </a:r>
            <a:r>
              <a:rPr lang="ko-KR" altLang="en-US" dirty="0"/>
              <a:t> 등 각 방문별 절차에 따라 진행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endParaRPr lang="en-US" altLang="ko-K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D1A78D-70DE-E073-BB74-60FC25B3392D}"/>
              </a:ext>
            </a:extLst>
          </p:cNvPr>
          <p:cNvSpPr txBox="1"/>
          <p:nvPr/>
        </p:nvSpPr>
        <p:spPr>
          <a:xfrm>
            <a:off x="4136279" y="2737060"/>
            <a:ext cx="4970900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*</a:t>
            </a:r>
            <a:r>
              <a:rPr lang="ko-KR" altLang="en-US" dirty="0"/>
              <a:t>개입 실시 </a:t>
            </a:r>
            <a:r>
              <a:rPr lang="en-US" altLang="ko-KR" dirty="0"/>
              <a:t>(11</a:t>
            </a:r>
            <a:r>
              <a:rPr lang="ko-KR" altLang="en-US" dirty="0"/>
              <a:t>주 간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dirty="0"/>
              <a:t>가</a:t>
            </a:r>
            <a:r>
              <a:rPr lang="en-US" altLang="ko-KR" dirty="0"/>
              <a:t>) </a:t>
            </a:r>
            <a:r>
              <a:rPr lang="ko-KR" altLang="en-US" dirty="0"/>
              <a:t>실험군인 경우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주 </a:t>
            </a:r>
            <a:r>
              <a:rPr lang="en-US" altLang="ko-KR" dirty="0"/>
              <a:t>1</a:t>
            </a:r>
            <a:r>
              <a:rPr lang="ko-KR" altLang="en-US" dirty="0"/>
              <a:t>회 인지행동치료 실시</a:t>
            </a:r>
            <a:endParaRPr lang="en-US" altLang="ko-KR" dirty="0"/>
          </a:p>
          <a:p>
            <a:r>
              <a:rPr lang="en-US" altLang="ko-KR" dirty="0"/>
              <a:t>(</a:t>
            </a:r>
            <a:r>
              <a:rPr lang="ko-KR" altLang="en-US" dirty="0"/>
              <a:t>대면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en-US" altLang="ko-KR" sz="1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-&gt; </a:t>
            </a:r>
            <a:r>
              <a:rPr lang="en-US" altLang="ko-KR" sz="1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Mind flow </a:t>
            </a:r>
            <a:r>
              <a:rPr lang="ko-KR" altLang="en-US" sz="1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활용</a:t>
            </a:r>
            <a:r>
              <a:rPr lang="en-US" altLang="ko-KR" sz="1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 </a:t>
            </a:r>
            <a:r>
              <a:rPr lang="ko-KR" altLang="en-US" sz="1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방문 하루 전 리마인드 문자 발송</a:t>
            </a:r>
            <a:endParaRPr lang="en-US" altLang="ko-KR" sz="10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r>
              <a:rPr lang="ko-KR" altLang="en-US" dirty="0"/>
              <a:t>나</a:t>
            </a:r>
            <a:r>
              <a:rPr lang="en-US" altLang="ko-KR" dirty="0"/>
              <a:t>) </a:t>
            </a:r>
            <a:r>
              <a:rPr lang="ko-KR" altLang="en-US" dirty="0"/>
              <a:t>대조군인 경우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주 </a:t>
            </a:r>
            <a:r>
              <a:rPr lang="en-US" altLang="ko-KR" dirty="0"/>
              <a:t>1</a:t>
            </a:r>
            <a:r>
              <a:rPr lang="ko-KR" altLang="en-US" dirty="0"/>
              <a:t>회 디지털 교육자료 전송 </a:t>
            </a:r>
            <a:endParaRPr lang="en-US" altLang="ko-KR" dirty="0"/>
          </a:p>
          <a:p>
            <a:r>
              <a:rPr lang="en-US" altLang="ko-KR" dirty="0"/>
              <a:t>(</a:t>
            </a:r>
            <a:r>
              <a:rPr lang="ko-KR" altLang="en-US" dirty="0" err="1"/>
              <a:t>비대면</a:t>
            </a:r>
            <a:r>
              <a:rPr lang="ko-KR" altLang="en-US" dirty="0"/>
              <a:t> 카카오톡</a:t>
            </a:r>
            <a:r>
              <a:rPr lang="en-US" altLang="ko-KR" dirty="0"/>
              <a:t>)</a:t>
            </a:r>
          </a:p>
          <a:p>
            <a:r>
              <a:rPr lang="en-US" altLang="ko-KR" sz="1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-&gt; Mind flow </a:t>
            </a:r>
            <a:r>
              <a:rPr lang="ko-KR" altLang="en-US" sz="1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활용</a:t>
            </a:r>
            <a:r>
              <a:rPr lang="en-US" altLang="ko-KR" sz="1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 </a:t>
            </a:r>
            <a:r>
              <a:rPr lang="ko-KR" altLang="en-US" sz="1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주 </a:t>
            </a:r>
            <a:r>
              <a:rPr lang="en-US" altLang="ko-KR" sz="1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  <a:r>
              <a:rPr lang="ko-KR" altLang="en-US" sz="1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회 디지털 교육자료 자동 발송</a:t>
            </a:r>
            <a:endParaRPr lang="en-US" altLang="ko-KR" sz="10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endParaRPr lang="en-US" altLang="ko-KR" dirty="0"/>
          </a:p>
          <a:p>
            <a:pPr marL="285750" indent="-285750">
              <a:buFontTx/>
              <a:buChar char="-"/>
            </a:pP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9C620CB-AAF1-5D02-0AAE-C6F5B40684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566" y="2035285"/>
            <a:ext cx="3717945" cy="4325053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67F5081F-E167-6175-86CA-D9B6986529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6270" y="2312244"/>
            <a:ext cx="3552996" cy="3771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0206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F3558-E241-123C-FC60-4F477FE23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8EA5AE-EB6D-4FA8-8949-2D6970C08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chemeClr val="accent5"/>
                </a:solidFill>
              </a:rPr>
              <a:t>연구 공통 절차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452D07-8088-8863-59D7-867432966463}"/>
              </a:ext>
            </a:extLst>
          </p:cNvPr>
          <p:cNvSpPr txBox="1"/>
          <p:nvPr/>
        </p:nvSpPr>
        <p:spPr>
          <a:xfrm>
            <a:off x="895989" y="1589460"/>
            <a:ext cx="105155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5. </a:t>
            </a:r>
            <a:r>
              <a:rPr lang="ko-KR" altLang="en-US" dirty="0"/>
              <a:t>임상시험 진행 </a:t>
            </a:r>
            <a:r>
              <a:rPr lang="en-US" altLang="ko-KR" dirty="0"/>
              <a:t>(</a:t>
            </a:r>
            <a:r>
              <a:rPr lang="ko-KR" altLang="en-US" dirty="0"/>
              <a:t>자기보고식 설문</a:t>
            </a:r>
            <a:r>
              <a:rPr lang="en-US" altLang="ko-KR" dirty="0"/>
              <a:t>, </a:t>
            </a:r>
            <a:r>
              <a:rPr lang="ko-KR" altLang="en-US" dirty="0"/>
              <a:t>면담</a:t>
            </a:r>
            <a:r>
              <a:rPr lang="en-US" altLang="ko-KR" dirty="0"/>
              <a:t>, MRI, </a:t>
            </a:r>
            <a:r>
              <a:rPr lang="en-US" altLang="ko-KR" dirty="0" err="1"/>
              <a:t>fNIRS</a:t>
            </a:r>
            <a:r>
              <a:rPr lang="ko-KR" altLang="en-US" dirty="0"/>
              <a:t> 등 각 방문별 절차에 따라 진행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1F7A26B-73E3-2127-F5C0-252D3A8F5A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132" y="2148836"/>
            <a:ext cx="4652011" cy="44790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E552B0D-7F99-73EB-83E4-5B168072A3EA}"/>
              </a:ext>
            </a:extLst>
          </p:cNvPr>
          <p:cNvSpPr txBox="1"/>
          <p:nvPr/>
        </p:nvSpPr>
        <p:spPr>
          <a:xfrm>
            <a:off x="5965079" y="2614325"/>
            <a:ext cx="49709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2)</a:t>
            </a:r>
            <a:r>
              <a:rPr lang="ko-KR" altLang="en-US" dirty="0"/>
              <a:t> 중간 평가</a:t>
            </a:r>
            <a:r>
              <a:rPr lang="en-US" altLang="ko-KR" dirty="0"/>
              <a:t>(6</a:t>
            </a:r>
            <a:r>
              <a:rPr lang="ko-KR" altLang="en-US" dirty="0"/>
              <a:t>주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소요시간 </a:t>
            </a:r>
            <a:r>
              <a:rPr lang="en-US" altLang="ko-KR" dirty="0"/>
              <a:t>40</a:t>
            </a:r>
            <a:r>
              <a:rPr lang="ko-KR" altLang="en-US" dirty="0"/>
              <a:t>분</a:t>
            </a:r>
            <a:r>
              <a:rPr lang="en-US" altLang="ko-KR" dirty="0"/>
              <a:t>) </a:t>
            </a:r>
          </a:p>
          <a:p>
            <a:pPr marL="342900" indent="-342900">
              <a:buAutoNum type="arabicParenR"/>
            </a:pP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임상척도 실시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복용약물 변경 여부 확인</a:t>
            </a:r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r>
              <a:rPr lang="en-US" altLang="ko-KR" dirty="0"/>
              <a:t>2-1) </a:t>
            </a:r>
            <a:r>
              <a:rPr lang="ko-KR" altLang="en-US" dirty="0"/>
              <a:t>중간 평가 후</a:t>
            </a:r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dirty="0"/>
              <a:t>임상척도 코딩</a:t>
            </a:r>
          </a:p>
        </p:txBody>
      </p:sp>
    </p:spTree>
    <p:extLst>
      <p:ext uri="{BB962C8B-B14F-4D97-AF65-F5344CB8AC3E}">
        <p14:creationId xmlns:p14="http://schemas.microsoft.com/office/powerpoint/2010/main" val="25555796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FD0EB-3147-B4C0-AF74-5AB3A647C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16E3C5-F8DA-E537-4BC5-E761497B9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chemeClr val="accent5"/>
                </a:solidFill>
              </a:rPr>
              <a:t>연구 공통 절차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44CBDB-F189-6086-5E44-6C1CB07DAE98}"/>
              </a:ext>
            </a:extLst>
          </p:cNvPr>
          <p:cNvSpPr txBox="1"/>
          <p:nvPr/>
        </p:nvSpPr>
        <p:spPr>
          <a:xfrm>
            <a:off x="895989" y="1589460"/>
            <a:ext cx="105155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5. </a:t>
            </a:r>
            <a:r>
              <a:rPr lang="ko-KR" altLang="en-US" dirty="0"/>
              <a:t>임상시험 진행 </a:t>
            </a:r>
            <a:r>
              <a:rPr lang="en-US" altLang="ko-KR" dirty="0"/>
              <a:t>(</a:t>
            </a:r>
            <a:r>
              <a:rPr lang="ko-KR" altLang="en-US" dirty="0"/>
              <a:t>자기보고식 설문</a:t>
            </a:r>
            <a:r>
              <a:rPr lang="en-US" altLang="ko-KR" dirty="0"/>
              <a:t>, </a:t>
            </a:r>
            <a:r>
              <a:rPr lang="ko-KR" altLang="en-US" dirty="0"/>
              <a:t>면담</a:t>
            </a:r>
            <a:r>
              <a:rPr lang="en-US" altLang="ko-KR" dirty="0"/>
              <a:t>, MRI, </a:t>
            </a:r>
            <a:r>
              <a:rPr lang="en-US" altLang="ko-KR" dirty="0" err="1"/>
              <a:t>fNIRS</a:t>
            </a:r>
            <a:r>
              <a:rPr lang="ko-KR" altLang="en-US" dirty="0"/>
              <a:t> 등 각 방문별 절차에 따라 진행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EFA0AB-95CD-65E9-E16F-B6315F849339}"/>
              </a:ext>
            </a:extLst>
          </p:cNvPr>
          <p:cNvSpPr txBox="1"/>
          <p:nvPr/>
        </p:nvSpPr>
        <p:spPr>
          <a:xfrm>
            <a:off x="5965079" y="2614325"/>
            <a:ext cx="49709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3)</a:t>
            </a:r>
            <a:r>
              <a:rPr lang="ko-KR" altLang="en-US" dirty="0"/>
              <a:t> 사후 평가</a:t>
            </a:r>
            <a:r>
              <a:rPr lang="en-US" altLang="ko-KR" dirty="0"/>
              <a:t>(11</a:t>
            </a:r>
            <a:r>
              <a:rPr lang="ko-KR" altLang="en-US" dirty="0"/>
              <a:t>주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소요시간 </a:t>
            </a:r>
            <a:r>
              <a:rPr lang="en-US" altLang="ko-KR" dirty="0"/>
              <a:t>40</a:t>
            </a:r>
            <a:r>
              <a:rPr lang="ko-KR" altLang="en-US" dirty="0"/>
              <a:t>분</a:t>
            </a:r>
            <a:r>
              <a:rPr lang="en-US" altLang="ko-KR" dirty="0"/>
              <a:t>)</a:t>
            </a:r>
          </a:p>
          <a:p>
            <a:pPr marL="342900" indent="-342900">
              <a:buAutoNum type="arabicParenR"/>
            </a:pP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임상척도 실시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 err="1"/>
              <a:t>fNIRS</a:t>
            </a:r>
            <a:r>
              <a:rPr lang="en-US" altLang="ko-KR" dirty="0"/>
              <a:t> </a:t>
            </a:r>
            <a:r>
              <a:rPr lang="ko-KR" altLang="en-US" dirty="0"/>
              <a:t>측정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복용약물 변화 여부 확인</a:t>
            </a:r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r>
              <a:rPr lang="en-US" altLang="ko-KR" dirty="0"/>
              <a:t>3-1) </a:t>
            </a:r>
            <a:r>
              <a:rPr lang="ko-KR" altLang="en-US" dirty="0"/>
              <a:t>사후 평가 후</a:t>
            </a:r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dirty="0"/>
              <a:t>임상척도 코딩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BD9C8F1-FABE-6E48-22B7-1137384B61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412" y="2410349"/>
            <a:ext cx="4064882" cy="391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3969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6FF4E-DD66-332D-5040-701633624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D366F9-5B0E-1BC2-1ACD-50AA8EDAF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chemeClr val="accent5"/>
                </a:solidFill>
              </a:rPr>
              <a:t>연구 공통 절차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8B42B8-E502-E65A-65E9-FA713BE4BDDF}"/>
              </a:ext>
            </a:extLst>
          </p:cNvPr>
          <p:cNvSpPr txBox="1"/>
          <p:nvPr/>
        </p:nvSpPr>
        <p:spPr>
          <a:xfrm>
            <a:off x="895989" y="1589460"/>
            <a:ext cx="105155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5. </a:t>
            </a:r>
            <a:r>
              <a:rPr lang="ko-KR" altLang="en-US" dirty="0"/>
              <a:t>임상시험 진행 </a:t>
            </a:r>
            <a:r>
              <a:rPr lang="en-US" altLang="ko-KR" dirty="0"/>
              <a:t>(</a:t>
            </a:r>
            <a:r>
              <a:rPr lang="ko-KR" altLang="en-US" dirty="0"/>
              <a:t>자기보고식 설문</a:t>
            </a:r>
            <a:r>
              <a:rPr lang="en-US" altLang="ko-KR" dirty="0"/>
              <a:t>, </a:t>
            </a:r>
            <a:r>
              <a:rPr lang="ko-KR" altLang="en-US" dirty="0"/>
              <a:t>면담</a:t>
            </a:r>
            <a:r>
              <a:rPr lang="en-US" altLang="ko-KR" dirty="0"/>
              <a:t>, MRI, </a:t>
            </a:r>
            <a:r>
              <a:rPr lang="en-US" altLang="ko-KR" dirty="0" err="1"/>
              <a:t>fNIRS</a:t>
            </a:r>
            <a:r>
              <a:rPr lang="ko-KR" altLang="en-US" dirty="0"/>
              <a:t> 등 각 방문별 절차에 따라 진행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E86015-1B4F-8B2A-72F9-83A54896972B}"/>
              </a:ext>
            </a:extLst>
          </p:cNvPr>
          <p:cNvSpPr txBox="1"/>
          <p:nvPr/>
        </p:nvSpPr>
        <p:spPr>
          <a:xfrm>
            <a:off x="5965079" y="2614325"/>
            <a:ext cx="49709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4)</a:t>
            </a:r>
            <a:r>
              <a:rPr lang="ko-KR" altLang="en-US" dirty="0"/>
              <a:t> 추적 검사</a:t>
            </a:r>
            <a:r>
              <a:rPr lang="en-US" altLang="ko-KR" dirty="0"/>
              <a:t>(23</a:t>
            </a:r>
            <a:r>
              <a:rPr lang="ko-KR" altLang="en-US" dirty="0"/>
              <a:t>주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소요시간 </a:t>
            </a:r>
            <a:r>
              <a:rPr lang="en-US" altLang="ko-KR" dirty="0"/>
              <a:t>40</a:t>
            </a:r>
            <a:r>
              <a:rPr lang="ko-KR" altLang="en-US" dirty="0"/>
              <a:t>분</a:t>
            </a:r>
            <a:r>
              <a:rPr lang="en-US" altLang="ko-KR" dirty="0"/>
              <a:t>)</a:t>
            </a:r>
          </a:p>
          <a:p>
            <a:pPr marL="342900" indent="-342900">
              <a:buAutoNum type="arabicParenR"/>
            </a:pP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임상척도 실시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4-1) </a:t>
            </a:r>
            <a:r>
              <a:rPr lang="ko-KR" altLang="en-US" dirty="0"/>
              <a:t>추적 검사 후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dirty="0"/>
              <a:t>임상척도 코딩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71CA431-8764-5FEB-17D2-33EC8A0D5F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356" y="2409782"/>
            <a:ext cx="4033661" cy="4150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1587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A1336-69D5-81D4-2F63-8918DAE7F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EC1204-DE96-A58B-7D25-916A182AD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chemeClr val="accent5"/>
                </a:solidFill>
              </a:rPr>
              <a:t>연구 공통 절차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E45C7F-5577-B0E0-F626-AF9DFBD8A562}"/>
              </a:ext>
            </a:extLst>
          </p:cNvPr>
          <p:cNvSpPr txBox="1"/>
          <p:nvPr/>
        </p:nvSpPr>
        <p:spPr>
          <a:xfrm>
            <a:off x="838200" y="1497582"/>
            <a:ext cx="10797851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*</a:t>
            </a:r>
            <a:r>
              <a:rPr lang="ko-KR" altLang="en-US" sz="1400" dirty="0"/>
              <a:t>해당 시 임상척도 결과보고서 </a:t>
            </a:r>
            <a:r>
              <a:rPr lang="ko-KR" altLang="en-US" sz="1400" u="sng" dirty="0"/>
              <a:t>피험자 </a:t>
            </a:r>
            <a:r>
              <a:rPr lang="en-US" altLang="ko-KR" sz="1400" u="sng" dirty="0"/>
              <a:t>&amp; </a:t>
            </a:r>
            <a:r>
              <a:rPr lang="ko-KR" altLang="en-US" sz="1400" u="sng" dirty="0" err="1"/>
              <a:t>교수님께</a:t>
            </a:r>
            <a:r>
              <a:rPr lang="ko-KR" altLang="en-US" sz="1400" u="sng" dirty="0"/>
              <a:t> </a:t>
            </a:r>
            <a:r>
              <a:rPr lang="ko-KR" altLang="en-US" sz="1400" dirty="0"/>
              <a:t>전송</a:t>
            </a:r>
            <a:endParaRPr lang="en-US" altLang="ko-KR" sz="1400" dirty="0"/>
          </a:p>
          <a:p>
            <a:r>
              <a:rPr lang="en-US" altLang="ko-KR" sz="1400" dirty="0"/>
              <a:t>(</a:t>
            </a:r>
            <a:r>
              <a:rPr lang="ko-KR" altLang="en-US" sz="1400" dirty="0"/>
              <a:t>본 </a:t>
            </a:r>
            <a:r>
              <a:rPr lang="en-US" altLang="ko-KR" sz="1400" dirty="0"/>
              <a:t>SSD_CBT </a:t>
            </a:r>
            <a:r>
              <a:rPr lang="ko-KR" altLang="en-US" sz="1400" dirty="0"/>
              <a:t>연구는 현재 결과보고서 별도 제작 </a:t>
            </a:r>
            <a:r>
              <a:rPr lang="en-US" altLang="ko-KR" sz="1400" dirty="0"/>
              <a:t>X)</a:t>
            </a:r>
          </a:p>
          <a:p>
            <a:endParaRPr lang="en-US" altLang="ko-KR" sz="1400" dirty="0"/>
          </a:p>
          <a:p>
            <a:r>
              <a:rPr lang="en-US" altLang="ko-KR" sz="1400" dirty="0"/>
              <a:t>**</a:t>
            </a:r>
            <a:r>
              <a:rPr lang="ko-KR" altLang="en-US" sz="1400" dirty="0"/>
              <a:t>타 연구 결과보고서 전송 시 아래와 같은 방식으로 진행</a:t>
            </a:r>
            <a:endParaRPr lang="en-US" altLang="ko-KR" sz="1400" dirty="0"/>
          </a:p>
          <a:p>
            <a:r>
              <a:rPr lang="en-US" altLang="ko-KR" sz="1200" b="1" dirty="0">
                <a:solidFill>
                  <a:srgbClr val="00B0F0"/>
                </a:solidFill>
              </a:rPr>
              <a:t>-&gt; </a:t>
            </a:r>
            <a:r>
              <a:rPr lang="ko-KR" altLang="en-US" sz="1200" b="1" dirty="0">
                <a:solidFill>
                  <a:srgbClr val="00B0F0"/>
                </a:solidFill>
              </a:rPr>
              <a:t>코딩 엑셀 파일을 </a:t>
            </a:r>
            <a:r>
              <a:rPr lang="en-US" altLang="ko-KR" sz="1200" b="1" dirty="0">
                <a:solidFill>
                  <a:srgbClr val="00B0F0"/>
                </a:solidFill>
              </a:rPr>
              <a:t>Mind flow</a:t>
            </a:r>
            <a:r>
              <a:rPr lang="ko-KR" altLang="en-US" sz="1200" b="1" dirty="0">
                <a:solidFill>
                  <a:srgbClr val="00B0F0"/>
                </a:solidFill>
              </a:rPr>
              <a:t>에 업로드 하는 경우 결과보고서 자동 생성 </a:t>
            </a:r>
            <a:r>
              <a:rPr lang="en-US" altLang="ko-KR" sz="1200" b="1" dirty="0">
                <a:solidFill>
                  <a:srgbClr val="00B0F0"/>
                </a:solidFill>
              </a:rPr>
              <a:t>or Mind flow</a:t>
            </a:r>
            <a:r>
              <a:rPr lang="ko-KR" altLang="en-US" sz="1200" b="1" dirty="0">
                <a:solidFill>
                  <a:srgbClr val="00B0F0"/>
                </a:solidFill>
              </a:rPr>
              <a:t>에 </a:t>
            </a:r>
            <a:r>
              <a:rPr lang="ko-KR" altLang="en-US" sz="1200" b="1" dirty="0" err="1">
                <a:solidFill>
                  <a:srgbClr val="00B0F0"/>
                </a:solidFill>
              </a:rPr>
              <a:t>코딩값</a:t>
            </a:r>
            <a:r>
              <a:rPr lang="ko-KR" altLang="en-US" sz="1200" b="1" dirty="0">
                <a:solidFill>
                  <a:srgbClr val="00B0F0"/>
                </a:solidFill>
              </a:rPr>
              <a:t> 입력하면 결과보고서 자동 생성 및 엑셀파일 추출 기능</a:t>
            </a:r>
            <a:endParaRPr lang="en-US" altLang="ko-KR" sz="1200" b="1" dirty="0">
              <a:solidFill>
                <a:srgbClr val="00B0F0"/>
              </a:solidFill>
            </a:endParaRPr>
          </a:p>
          <a:p>
            <a:pPr marL="342900" indent="-342900">
              <a:buAutoNum type="arabicPeriod"/>
            </a:pPr>
            <a:endParaRPr lang="en-US" altLang="ko-KR" dirty="0"/>
          </a:p>
          <a:p>
            <a:endParaRPr lang="en-US" altLang="ko-KR" dirty="0"/>
          </a:p>
        </p:txBody>
      </p:sp>
      <p:pic>
        <p:nvPicPr>
          <p:cNvPr id="3" name="내용 개체 틀 4">
            <a:extLst>
              <a:ext uri="{FF2B5EF4-FFF2-40B4-BE49-F238E27FC236}">
                <a16:creationId xmlns:a16="http://schemas.microsoft.com/office/drawing/2014/main" id="{924CFDBD-6474-ED95-DB78-E9B4D1C759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285434"/>
            <a:ext cx="2365732" cy="320744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F4E06D4-2D35-4544-F1F5-01AE173D57C6}"/>
              </a:ext>
            </a:extLst>
          </p:cNvPr>
          <p:cNvSpPr txBox="1"/>
          <p:nvPr/>
        </p:nvSpPr>
        <p:spPr>
          <a:xfrm>
            <a:off x="1141467" y="3060650"/>
            <a:ext cx="23197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1. </a:t>
            </a:r>
            <a:r>
              <a:rPr lang="ko-KR" altLang="en-US" sz="1200" b="1" dirty="0"/>
              <a:t>코딩 후 결과보고서 제작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7D81CB-7553-A448-1641-47A09523839C}"/>
              </a:ext>
            </a:extLst>
          </p:cNvPr>
          <p:cNvSpPr txBox="1"/>
          <p:nvPr/>
        </p:nvSpPr>
        <p:spPr>
          <a:xfrm>
            <a:off x="4159806" y="3060649"/>
            <a:ext cx="28362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2. </a:t>
            </a:r>
            <a:r>
              <a:rPr lang="ko-KR" altLang="en-US" sz="1200" b="1" dirty="0"/>
              <a:t>결과보고서 전송 </a:t>
            </a:r>
            <a:r>
              <a:rPr lang="en-US" altLang="ko-KR" sz="1200" b="1" dirty="0"/>
              <a:t>(</a:t>
            </a:r>
            <a:r>
              <a:rPr lang="ko-KR" altLang="en-US" sz="1200" b="1" dirty="0"/>
              <a:t>피험자</a:t>
            </a:r>
            <a:r>
              <a:rPr lang="en-US" altLang="ko-KR" sz="1200" b="1" dirty="0"/>
              <a:t>) -</a:t>
            </a:r>
            <a:r>
              <a:rPr lang="ko-KR" altLang="en-US" sz="1200" b="1" dirty="0"/>
              <a:t>카톡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9271F31-ED21-0548-F931-3C676D336C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2648" y="3337648"/>
            <a:ext cx="2630177" cy="329207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B71ADEE-3B1C-B9E2-C287-41B51A2B5073}"/>
              </a:ext>
            </a:extLst>
          </p:cNvPr>
          <p:cNvSpPr txBox="1"/>
          <p:nvPr/>
        </p:nvSpPr>
        <p:spPr>
          <a:xfrm>
            <a:off x="8517524" y="3059726"/>
            <a:ext cx="28362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3. </a:t>
            </a:r>
            <a:r>
              <a:rPr lang="ko-KR" altLang="en-US" sz="1200" b="1" dirty="0"/>
              <a:t>결과보고서 전송 </a:t>
            </a:r>
            <a:r>
              <a:rPr lang="en-US" altLang="ko-KR" sz="1200" b="1" dirty="0"/>
              <a:t>(</a:t>
            </a:r>
            <a:r>
              <a:rPr lang="ko-KR" altLang="en-US" sz="1200" b="1" dirty="0"/>
              <a:t>교수님</a:t>
            </a:r>
            <a:r>
              <a:rPr lang="en-US" altLang="ko-KR" sz="1200" b="1" dirty="0"/>
              <a:t>) -</a:t>
            </a:r>
            <a:r>
              <a:rPr lang="ko-KR" altLang="en-US" sz="1200" b="1" dirty="0" err="1"/>
              <a:t>이음톡</a:t>
            </a:r>
            <a:endParaRPr lang="ko-KR" altLang="en-US" sz="1200" b="1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496C8FD6-D57A-07FC-BA14-ADAF8D3CF7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5270" y="3336725"/>
            <a:ext cx="3400781" cy="2959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0370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FABA3-785D-37F1-660A-BCED3101D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16B3ED-E489-D21D-7E04-DFAEC734F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연구 진행 시 교수님께 공유 사항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C9B384-BF6F-458A-4934-69183BB428F0}"/>
              </a:ext>
            </a:extLst>
          </p:cNvPr>
          <p:cNvSpPr txBox="1"/>
          <p:nvPr/>
        </p:nvSpPr>
        <p:spPr>
          <a:xfrm>
            <a:off x="838201" y="1509847"/>
            <a:ext cx="105155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1. </a:t>
            </a:r>
            <a:r>
              <a:rPr lang="ko-KR" altLang="en-US" sz="1200" dirty="0"/>
              <a:t>연구별 선정</a:t>
            </a:r>
            <a:r>
              <a:rPr lang="en-US" altLang="ko-KR" sz="1200" dirty="0"/>
              <a:t>/</a:t>
            </a:r>
            <a:r>
              <a:rPr lang="ko-KR" altLang="en-US" sz="1200" dirty="0"/>
              <a:t>제외 기준 안내 </a:t>
            </a:r>
            <a:r>
              <a:rPr lang="en-US" altLang="ko-KR" sz="1200" dirty="0"/>
              <a:t>&amp; </a:t>
            </a:r>
            <a:r>
              <a:rPr lang="ko-KR" altLang="en-US" sz="1200" dirty="0"/>
              <a:t>목표 </a:t>
            </a:r>
            <a:r>
              <a:rPr lang="en-US" altLang="ko-KR" sz="1200" dirty="0"/>
              <a:t>N</a:t>
            </a:r>
            <a:r>
              <a:rPr lang="ko-KR" altLang="en-US" sz="1200" dirty="0"/>
              <a:t>수 </a:t>
            </a:r>
            <a:r>
              <a:rPr lang="en-US" altLang="ko-KR" sz="1200" dirty="0"/>
              <a:t>&amp; </a:t>
            </a:r>
            <a:r>
              <a:rPr lang="ko-KR" altLang="en-US" sz="1200" dirty="0"/>
              <a:t>유의사항 </a:t>
            </a:r>
            <a:r>
              <a:rPr lang="en-US" altLang="ko-KR" sz="1200" dirty="0"/>
              <a:t>(</a:t>
            </a:r>
            <a:r>
              <a:rPr lang="ko-KR" altLang="en-US" sz="1200" dirty="0"/>
              <a:t>약물변경 금지 등</a:t>
            </a:r>
            <a:r>
              <a:rPr lang="en-US" altLang="ko-KR" sz="1200" dirty="0"/>
              <a:t>)</a:t>
            </a:r>
          </a:p>
          <a:p>
            <a:r>
              <a:rPr lang="en-US" altLang="ko-KR" sz="1200" dirty="0"/>
              <a:t>2. </a:t>
            </a:r>
            <a:r>
              <a:rPr lang="ko-KR" altLang="en-US" sz="1200" dirty="0"/>
              <a:t>피험자 등록 현황 </a:t>
            </a:r>
            <a:r>
              <a:rPr lang="en-US" altLang="ko-KR" sz="1200" dirty="0"/>
              <a:t>(</a:t>
            </a:r>
            <a:r>
              <a:rPr lang="ko-KR" altLang="en-US" sz="1200" dirty="0" err="1"/>
              <a:t>인롤</a:t>
            </a:r>
            <a:r>
              <a:rPr lang="ko-KR" altLang="en-US" sz="1200" dirty="0"/>
              <a:t> 현황</a:t>
            </a:r>
            <a:r>
              <a:rPr lang="en-US" altLang="ko-KR" sz="1200" dirty="0"/>
              <a:t>) -&gt; </a:t>
            </a:r>
            <a:r>
              <a:rPr lang="ko-KR" altLang="en-US" sz="1200" dirty="0"/>
              <a:t>현재 공유 스프레드 시트로 안내</a:t>
            </a:r>
            <a:r>
              <a:rPr lang="en-US" altLang="ko-KR" sz="1200" dirty="0"/>
              <a:t>(</a:t>
            </a:r>
            <a:r>
              <a:rPr lang="ko-KR" altLang="en-US" sz="1200" u="sng" dirty="0"/>
              <a:t>참고</a:t>
            </a:r>
            <a:r>
              <a:rPr lang="en-US" altLang="ko-KR" sz="1200" u="sng" dirty="0"/>
              <a:t>-</a:t>
            </a:r>
            <a:r>
              <a:rPr lang="ko-KR" altLang="en-US" sz="1200" u="sng" dirty="0"/>
              <a:t>광명 </a:t>
            </a:r>
            <a:r>
              <a:rPr lang="en-US" altLang="ko-KR" sz="1200" u="sng" dirty="0"/>
              <a:t>NP </a:t>
            </a:r>
            <a:r>
              <a:rPr lang="ko-KR" altLang="en-US" sz="1200" u="sng" dirty="0"/>
              <a:t>연구현황 시트</a:t>
            </a:r>
            <a:r>
              <a:rPr lang="en-US" altLang="ko-KR" sz="1200" u="sng" dirty="0"/>
              <a:t>) &amp; EMR </a:t>
            </a:r>
            <a:r>
              <a:rPr lang="ko-KR" altLang="en-US" sz="1200" u="sng" dirty="0"/>
              <a:t>환자메모 활용 중</a:t>
            </a:r>
            <a:endParaRPr lang="en-US" altLang="ko-KR" sz="1200" u="sng" dirty="0"/>
          </a:p>
          <a:p>
            <a:endParaRPr lang="en-US" altLang="ko-KR" u="sng" dirty="0"/>
          </a:p>
          <a:p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351F658-CB9A-67C7-193B-061E3E14BF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204" y="2121286"/>
            <a:ext cx="7894628" cy="437158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73D157-0201-F24E-1AAA-B703D63EB356}"/>
              </a:ext>
            </a:extLst>
          </p:cNvPr>
          <p:cNvSpPr txBox="1"/>
          <p:nvPr/>
        </p:nvSpPr>
        <p:spPr>
          <a:xfrm>
            <a:off x="8284832" y="3862861"/>
            <a:ext cx="3871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*</a:t>
            </a:r>
            <a:r>
              <a:rPr lang="ko-KR" altLang="en-US" dirty="0"/>
              <a:t>피험자 </a:t>
            </a:r>
            <a:r>
              <a:rPr lang="ko-KR" altLang="en-US" u="sng" dirty="0"/>
              <a:t>모집이 필요한 </a:t>
            </a:r>
            <a:r>
              <a:rPr lang="ko-KR" altLang="en-US" dirty="0"/>
              <a:t>연구의 경우 시트에 별도 정리</a:t>
            </a:r>
          </a:p>
        </p:txBody>
      </p:sp>
    </p:spTree>
    <p:extLst>
      <p:ext uri="{BB962C8B-B14F-4D97-AF65-F5344CB8AC3E}">
        <p14:creationId xmlns:p14="http://schemas.microsoft.com/office/powerpoint/2010/main" val="39446432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12D59-63F2-0E96-3F18-1AAD859D4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79AB45-2CD3-4186-D196-730E98A20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연구 진행 시 교수님께 공유 사항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54B66B-E229-497C-66E7-9E36BD5FE631}"/>
              </a:ext>
            </a:extLst>
          </p:cNvPr>
          <p:cNvSpPr txBox="1"/>
          <p:nvPr/>
        </p:nvSpPr>
        <p:spPr>
          <a:xfrm>
            <a:off x="838201" y="1509847"/>
            <a:ext cx="105155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1. </a:t>
            </a:r>
            <a:r>
              <a:rPr lang="ko-KR" altLang="en-US" sz="1200" dirty="0"/>
              <a:t>연구별 선정</a:t>
            </a:r>
            <a:r>
              <a:rPr lang="en-US" altLang="ko-KR" sz="1200" dirty="0"/>
              <a:t>/</a:t>
            </a:r>
            <a:r>
              <a:rPr lang="ko-KR" altLang="en-US" sz="1200" dirty="0"/>
              <a:t>제외 기준 안내 </a:t>
            </a:r>
            <a:r>
              <a:rPr lang="en-US" altLang="ko-KR" sz="1200" dirty="0"/>
              <a:t>&amp; </a:t>
            </a:r>
            <a:r>
              <a:rPr lang="ko-KR" altLang="en-US" sz="1200" dirty="0"/>
              <a:t>목표 </a:t>
            </a:r>
            <a:r>
              <a:rPr lang="en-US" altLang="ko-KR" sz="1200" dirty="0"/>
              <a:t>N</a:t>
            </a:r>
            <a:r>
              <a:rPr lang="ko-KR" altLang="en-US" sz="1200" dirty="0"/>
              <a:t>수 </a:t>
            </a:r>
            <a:r>
              <a:rPr lang="en-US" altLang="ko-KR" sz="1200" dirty="0"/>
              <a:t>&amp; </a:t>
            </a:r>
            <a:r>
              <a:rPr lang="ko-KR" altLang="en-US" sz="1200" dirty="0"/>
              <a:t>유의사항 </a:t>
            </a:r>
            <a:r>
              <a:rPr lang="en-US" altLang="ko-KR" sz="1200" dirty="0"/>
              <a:t>(</a:t>
            </a:r>
            <a:r>
              <a:rPr lang="ko-KR" altLang="en-US" sz="1200" dirty="0"/>
              <a:t>약물변경 금지 등</a:t>
            </a:r>
            <a:r>
              <a:rPr lang="en-US" altLang="ko-KR" sz="1200" dirty="0"/>
              <a:t>)</a:t>
            </a:r>
          </a:p>
          <a:p>
            <a:r>
              <a:rPr lang="en-US" altLang="ko-KR" sz="1200" dirty="0"/>
              <a:t>2. </a:t>
            </a:r>
            <a:r>
              <a:rPr lang="ko-KR" altLang="en-US" sz="1200" dirty="0"/>
              <a:t>피험자 등록 현황 </a:t>
            </a:r>
            <a:r>
              <a:rPr lang="en-US" altLang="ko-KR" sz="1200" dirty="0"/>
              <a:t>(</a:t>
            </a:r>
            <a:r>
              <a:rPr lang="ko-KR" altLang="en-US" sz="1200" dirty="0" err="1"/>
              <a:t>인롤</a:t>
            </a:r>
            <a:r>
              <a:rPr lang="ko-KR" altLang="en-US" sz="1200" dirty="0"/>
              <a:t> 현황</a:t>
            </a:r>
            <a:r>
              <a:rPr lang="en-US" altLang="ko-KR" sz="1200" dirty="0"/>
              <a:t>) -&gt; </a:t>
            </a:r>
            <a:r>
              <a:rPr lang="ko-KR" altLang="en-US" sz="1200" dirty="0"/>
              <a:t>현재 공유 스프레드 시트로 안내</a:t>
            </a:r>
            <a:r>
              <a:rPr lang="en-US" altLang="ko-KR" sz="1200" dirty="0"/>
              <a:t>(</a:t>
            </a:r>
            <a:r>
              <a:rPr lang="ko-KR" altLang="en-US" sz="1200" u="sng" dirty="0"/>
              <a:t>참고</a:t>
            </a:r>
            <a:r>
              <a:rPr lang="en-US" altLang="ko-KR" sz="1200" u="sng" dirty="0"/>
              <a:t>-</a:t>
            </a:r>
            <a:r>
              <a:rPr lang="ko-KR" altLang="en-US" sz="1200" u="sng" dirty="0"/>
              <a:t>광명 </a:t>
            </a:r>
            <a:r>
              <a:rPr lang="en-US" altLang="ko-KR" sz="1200" u="sng" dirty="0"/>
              <a:t>NP </a:t>
            </a:r>
            <a:r>
              <a:rPr lang="ko-KR" altLang="en-US" sz="1200" u="sng" dirty="0"/>
              <a:t>연구현황 시트</a:t>
            </a:r>
            <a:r>
              <a:rPr lang="en-US" altLang="ko-KR" sz="1200" u="sng" dirty="0"/>
              <a:t>) &amp; EMR </a:t>
            </a:r>
            <a:r>
              <a:rPr lang="ko-KR" altLang="en-US" sz="1200" u="sng" dirty="0"/>
              <a:t>환자메모 활용 중</a:t>
            </a:r>
            <a:endParaRPr lang="en-US" altLang="ko-KR" sz="1200" u="sng" dirty="0"/>
          </a:p>
          <a:p>
            <a:endParaRPr lang="en-US" altLang="ko-KR" u="sng" dirty="0"/>
          </a:p>
          <a:p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FADAC77-3207-2DCB-984F-39AEB9769F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204" y="2121286"/>
            <a:ext cx="7894628" cy="437158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84847B5-6995-1E22-9888-0F541847EE5B}"/>
              </a:ext>
            </a:extLst>
          </p:cNvPr>
          <p:cNvSpPr txBox="1"/>
          <p:nvPr/>
        </p:nvSpPr>
        <p:spPr>
          <a:xfrm>
            <a:off x="8284832" y="2956108"/>
            <a:ext cx="3871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*</a:t>
            </a:r>
            <a:r>
              <a:rPr lang="ko-KR" altLang="en-US" dirty="0"/>
              <a:t>피험자 </a:t>
            </a:r>
            <a:r>
              <a:rPr lang="ko-KR" altLang="en-US" u="sng" dirty="0"/>
              <a:t>모집이 필요한 </a:t>
            </a:r>
            <a:r>
              <a:rPr lang="ko-KR" altLang="en-US" dirty="0"/>
              <a:t>연구의 경우 시트에 별도 정리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7C3CBB-81EA-0AE8-1DD3-CDD9599621AF}"/>
              </a:ext>
            </a:extLst>
          </p:cNvPr>
          <p:cNvSpPr txBox="1"/>
          <p:nvPr/>
        </p:nvSpPr>
        <p:spPr>
          <a:xfrm>
            <a:off x="8454779" y="4149929"/>
            <a:ext cx="33470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*Mind flow research  </a:t>
            </a:r>
            <a:r>
              <a:rPr lang="ko-KR" alt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초기 화면 </a:t>
            </a:r>
            <a:r>
              <a:rPr lang="en-US" altLang="ko-KR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/ </a:t>
            </a:r>
            <a:r>
              <a:rPr lang="ko-KR" altLang="en-US" sz="1200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인롤현황</a:t>
            </a:r>
            <a:r>
              <a:rPr lang="ko-KR" alt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페이지 별도 구성</a:t>
            </a:r>
            <a:endParaRPr lang="en-US" altLang="ko-KR" sz="12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endParaRPr lang="en-US" altLang="ko-KR" sz="12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altLang="ko-KR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-SSD_CBT </a:t>
            </a:r>
            <a:r>
              <a:rPr lang="ko-KR" alt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탭만 </a:t>
            </a:r>
            <a:r>
              <a:rPr lang="en-US" altLang="ko-KR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  <a:r>
              <a:rPr lang="ko-KR" alt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차적으로 구체화 </a:t>
            </a:r>
            <a:r>
              <a:rPr lang="en-US" altLang="ko-KR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</a:t>
            </a:r>
            <a:r>
              <a:rPr lang="ko-KR" alt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연구별 타임라인</a:t>
            </a:r>
            <a:r>
              <a:rPr lang="en-US" altLang="ko-KR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) -&gt; </a:t>
            </a:r>
            <a:r>
              <a:rPr lang="ko-KR" alt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누르면 피험자 리스트 </a:t>
            </a:r>
            <a:r>
              <a:rPr lang="en-US" altLang="ko-KR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-&gt; </a:t>
            </a:r>
            <a:r>
              <a:rPr lang="ko-KR" alt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피험자별로 누르면 각 일정에 맞는 타임라인 </a:t>
            </a:r>
            <a:r>
              <a:rPr lang="ko-KR" altLang="en-US" sz="1200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보여짐</a:t>
            </a:r>
            <a:r>
              <a:rPr lang="ko-KR" alt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ko-KR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</a:t>
            </a:r>
            <a:r>
              <a:rPr lang="en-US" altLang="ko-KR" sz="1200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ecrf</a:t>
            </a:r>
            <a:r>
              <a:rPr lang="en-US" altLang="ko-KR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ko-KR" alt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참고</a:t>
            </a:r>
            <a:r>
              <a:rPr lang="en-US" altLang="ko-KR" sz="12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)</a:t>
            </a:r>
            <a:endParaRPr lang="en-US" altLang="ko-KR" sz="12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altLang="ko-KR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-</a:t>
            </a:r>
            <a:r>
              <a:rPr lang="ko-KR" alt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현재 시트 정보로 각 탭은 생성 </a:t>
            </a:r>
            <a:endParaRPr lang="en-US" altLang="ko-KR" sz="12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2247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9E949-7F54-E8DF-ACE4-0BDB08941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840797-92A1-A6BD-3C95-1F7C62AAA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연구 진행 시 교수님께 공유 사항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163A42-375C-69A2-6C9E-0F5A7D41AC5F}"/>
              </a:ext>
            </a:extLst>
          </p:cNvPr>
          <p:cNvSpPr txBox="1"/>
          <p:nvPr/>
        </p:nvSpPr>
        <p:spPr>
          <a:xfrm>
            <a:off x="838201" y="1509847"/>
            <a:ext cx="105155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1. </a:t>
            </a:r>
            <a:r>
              <a:rPr lang="ko-KR" altLang="en-US" sz="1200" dirty="0"/>
              <a:t>연구별 선정</a:t>
            </a:r>
            <a:r>
              <a:rPr lang="en-US" altLang="ko-KR" sz="1200" dirty="0"/>
              <a:t>/</a:t>
            </a:r>
            <a:r>
              <a:rPr lang="ko-KR" altLang="en-US" sz="1200" dirty="0"/>
              <a:t>제외 기준 안내 </a:t>
            </a:r>
            <a:r>
              <a:rPr lang="en-US" altLang="ko-KR" sz="1200" dirty="0"/>
              <a:t>&amp; </a:t>
            </a:r>
            <a:r>
              <a:rPr lang="ko-KR" altLang="en-US" sz="1200" dirty="0"/>
              <a:t>목표 </a:t>
            </a:r>
            <a:r>
              <a:rPr lang="en-US" altLang="ko-KR" sz="1200" dirty="0"/>
              <a:t>N</a:t>
            </a:r>
            <a:r>
              <a:rPr lang="ko-KR" altLang="en-US" sz="1200" dirty="0"/>
              <a:t>수 </a:t>
            </a:r>
            <a:r>
              <a:rPr lang="en-US" altLang="ko-KR" sz="1200" dirty="0"/>
              <a:t>&amp; </a:t>
            </a:r>
            <a:r>
              <a:rPr lang="ko-KR" altLang="en-US" sz="1200" dirty="0"/>
              <a:t>유의사항 </a:t>
            </a:r>
            <a:r>
              <a:rPr lang="en-US" altLang="ko-KR" sz="1200" dirty="0"/>
              <a:t>(</a:t>
            </a:r>
            <a:r>
              <a:rPr lang="ko-KR" altLang="en-US" sz="1200" dirty="0"/>
              <a:t>약물변경 금지 등</a:t>
            </a:r>
            <a:r>
              <a:rPr lang="en-US" altLang="ko-KR" sz="1200" dirty="0"/>
              <a:t>)</a:t>
            </a:r>
          </a:p>
          <a:p>
            <a:r>
              <a:rPr lang="en-US" altLang="ko-KR" sz="1200" dirty="0"/>
              <a:t>2. </a:t>
            </a:r>
            <a:r>
              <a:rPr lang="ko-KR" altLang="en-US" sz="1200" dirty="0"/>
              <a:t>피험자 등록 현황 </a:t>
            </a:r>
            <a:r>
              <a:rPr lang="en-US" altLang="ko-KR" sz="1200" dirty="0"/>
              <a:t>(</a:t>
            </a:r>
            <a:r>
              <a:rPr lang="ko-KR" altLang="en-US" sz="1200" dirty="0" err="1"/>
              <a:t>인롤</a:t>
            </a:r>
            <a:r>
              <a:rPr lang="ko-KR" altLang="en-US" sz="1200" dirty="0"/>
              <a:t> 현황</a:t>
            </a:r>
            <a:r>
              <a:rPr lang="en-US" altLang="ko-KR" sz="1200" dirty="0"/>
              <a:t>) -&gt; </a:t>
            </a:r>
            <a:r>
              <a:rPr lang="ko-KR" altLang="en-US" sz="1200" dirty="0"/>
              <a:t>현재 공유 스프레드 시트로 안내</a:t>
            </a:r>
            <a:r>
              <a:rPr lang="en-US" altLang="ko-KR" sz="1200" dirty="0"/>
              <a:t>(</a:t>
            </a:r>
            <a:r>
              <a:rPr lang="ko-KR" altLang="en-US" sz="1200" u="sng" dirty="0"/>
              <a:t>참고</a:t>
            </a:r>
            <a:r>
              <a:rPr lang="en-US" altLang="ko-KR" sz="1200" u="sng" dirty="0"/>
              <a:t>-</a:t>
            </a:r>
            <a:r>
              <a:rPr lang="ko-KR" altLang="en-US" sz="1200" u="sng" dirty="0"/>
              <a:t>광명 </a:t>
            </a:r>
            <a:r>
              <a:rPr lang="en-US" altLang="ko-KR" sz="1200" u="sng" dirty="0"/>
              <a:t>NP </a:t>
            </a:r>
            <a:r>
              <a:rPr lang="ko-KR" altLang="en-US" sz="1200" u="sng" dirty="0"/>
              <a:t>연구현황 시트</a:t>
            </a:r>
            <a:r>
              <a:rPr lang="en-US" altLang="ko-KR" sz="1200" u="sng" dirty="0"/>
              <a:t>) &amp; EMR </a:t>
            </a:r>
            <a:r>
              <a:rPr lang="ko-KR" altLang="en-US" sz="1200" u="sng" dirty="0"/>
              <a:t>환자메모 활용 중</a:t>
            </a:r>
            <a:endParaRPr lang="en-US" altLang="ko-KR" sz="1200" u="sng" dirty="0"/>
          </a:p>
          <a:p>
            <a:endParaRPr lang="en-US" altLang="ko-KR" u="sng" dirty="0"/>
          </a:p>
          <a:p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1A1B5A8-85C5-9800-6E8F-AA15EA4C1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678" y="2097458"/>
            <a:ext cx="7311283" cy="422146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A1FAC38-DAD6-020A-ADB9-109B188F425F}"/>
              </a:ext>
            </a:extLst>
          </p:cNvPr>
          <p:cNvSpPr txBox="1"/>
          <p:nvPr/>
        </p:nvSpPr>
        <p:spPr>
          <a:xfrm>
            <a:off x="8303754" y="3383121"/>
            <a:ext cx="368163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*</a:t>
            </a:r>
            <a:r>
              <a:rPr lang="ko-KR" altLang="en-US" dirty="0"/>
              <a:t>각 연구별 피험자 모집 현황</a:t>
            </a:r>
            <a:r>
              <a:rPr lang="en-US" altLang="ko-KR" dirty="0"/>
              <a:t>/ </a:t>
            </a:r>
            <a:r>
              <a:rPr lang="ko-KR" altLang="en-US" dirty="0"/>
              <a:t>목표 </a:t>
            </a:r>
            <a:r>
              <a:rPr lang="en-US" altLang="ko-KR" dirty="0"/>
              <a:t>N</a:t>
            </a:r>
            <a:r>
              <a:rPr lang="ko-KR" altLang="en-US" dirty="0"/>
              <a:t>수</a:t>
            </a:r>
            <a:r>
              <a:rPr lang="en-US" altLang="ko-KR" dirty="0"/>
              <a:t>/ </a:t>
            </a:r>
            <a:r>
              <a:rPr lang="ko-KR" altLang="en-US" dirty="0"/>
              <a:t>마감일</a:t>
            </a:r>
            <a:r>
              <a:rPr lang="en-US" altLang="ko-KR" dirty="0"/>
              <a:t> </a:t>
            </a:r>
            <a:r>
              <a:rPr lang="ko-KR" altLang="en-US" dirty="0"/>
              <a:t>정리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*</a:t>
            </a:r>
            <a:r>
              <a:rPr lang="ko-KR" altLang="en-US" dirty="0"/>
              <a:t>연구별로 </a:t>
            </a:r>
            <a:r>
              <a:rPr lang="ko-KR" altLang="en-US" u="sng" dirty="0" err="1"/>
              <a:t>인롤된</a:t>
            </a:r>
            <a:r>
              <a:rPr lang="ko-KR" altLang="en-US" u="sng" dirty="0"/>
              <a:t> 피험자 리스트 </a:t>
            </a:r>
            <a:r>
              <a:rPr lang="ko-KR" altLang="en-US" dirty="0"/>
              <a:t>별도 시트로 관리</a:t>
            </a:r>
          </a:p>
        </p:txBody>
      </p:sp>
    </p:spTree>
    <p:extLst>
      <p:ext uri="{BB962C8B-B14F-4D97-AF65-F5344CB8AC3E}">
        <p14:creationId xmlns:p14="http://schemas.microsoft.com/office/powerpoint/2010/main" val="23015737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1531</Words>
  <Application>Microsoft Office PowerPoint</Application>
  <PresentationFormat>와이드스크린</PresentationFormat>
  <Paragraphs>190</Paragraphs>
  <Slides>23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7" baseType="lpstr">
      <vt:lpstr>맑은 고딕</vt:lpstr>
      <vt:lpstr>Arial</vt:lpstr>
      <vt:lpstr>Wingdings</vt:lpstr>
      <vt:lpstr>Office 테마</vt:lpstr>
      <vt:lpstr>PowerPoint 프레젠테이션</vt:lpstr>
      <vt:lpstr>연구 결과보고서 기존 구성 </vt:lpstr>
      <vt:lpstr>연구 코딩 기존 구성 </vt:lpstr>
      <vt:lpstr>연구 코딩 기존 구성 </vt:lpstr>
      <vt:lpstr>연구 공통 절차</vt:lpstr>
      <vt:lpstr>연구 공통 절차 (SSD_CBT 연구 적용)</vt:lpstr>
      <vt:lpstr>연구 공통 절차 (SSD_CBT 연구 적용)</vt:lpstr>
      <vt:lpstr>연구 공통 절차 (SSD_CBT 연구 적용)</vt:lpstr>
      <vt:lpstr>연구 공통 절차 (SSD_CBT 연구 적용)</vt:lpstr>
      <vt:lpstr>연구 공통 절차 (SSD_CBT 연구 적용)</vt:lpstr>
      <vt:lpstr>연구 공통 절차 (SSD_CBT 연구 적용)</vt:lpstr>
      <vt:lpstr>연구 공통 절차 (SSD_CBT 연구 적용)</vt:lpstr>
      <vt:lpstr>연구 공통 절차</vt:lpstr>
      <vt:lpstr>연구 공통 절차</vt:lpstr>
      <vt:lpstr>연구 공통 절차</vt:lpstr>
      <vt:lpstr>연구 공통 절차</vt:lpstr>
      <vt:lpstr>연구 공통 절차</vt:lpstr>
      <vt:lpstr>연구 공통 절차</vt:lpstr>
      <vt:lpstr>연구 공통 절차</vt:lpstr>
      <vt:lpstr>연구 공통 절차</vt:lpstr>
      <vt:lpstr>연구 진행 시 교수님께 공유 사항</vt:lpstr>
      <vt:lpstr>연구 진행 시 교수님께 공유 사항</vt:lpstr>
      <vt:lpstr>연구 진행 시 교수님께 공유 사항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홍지선</dc:creator>
  <cp:lastModifiedBy>홍지선</cp:lastModifiedBy>
  <cp:revision>38</cp:revision>
  <dcterms:created xsi:type="dcterms:W3CDTF">2026-09-02T05:52:56Z</dcterms:created>
  <dcterms:modified xsi:type="dcterms:W3CDTF">2026-09-05T12:11:28Z</dcterms:modified>
</cp:coreProperties>
</file>